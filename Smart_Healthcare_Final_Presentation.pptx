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3" r:id="rId6"/>
    <p:sldId id="270" r:id="rId14"/>
    <p:sldId id="268" r:id="rId7"/>
    <p:sldId id="269"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591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professor and everyone. Our team built an appointment booking system for a small clinic. Its distinguishing feature is an AI assistant that answers health questions based on the clinic's own documents, not generic advice. I'll cover the architecture and the AI, then give a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user groups and three separate workflows. Our AI focuses on patients' health questions, where generic chatbots often give unhelpful, generic answers. Our assistant reads only the clinic's documents.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backends have different roles: Spring Boot handles business logic, and FastAPI handles AI. We separated them because the RAG component is written in Python to leverage its embedding ecosystem. Both run server-side, so API keys are never exposed to the browser.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one AI request, and it is also the required diagram in our report. The key detail is the ordering: we send citations before the answer. With a locally running model, the first token may take up to 40 seconds, so users should see meaningful source information while they wait.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is why we did not use the newest model. The answer comes from measurements: 3.8 Flash returned HTTP 503 on nearly every request with reasoning enabled, while the pinned Flash build did not. We keep Ollama for scoring because the 25 cases cost 44 model calls and the free quota dies after about 15 to 20; we tried two separate keys and both ran out mid-run.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stating the unfinished work upfront. The three AI capabilities are done, and so are the guardrails and file upload, which an earlier draft of this slide wrongly listed as missing. Three things genuinely remain. We run on localhost rather than a container, which the lecturer has confirmed is acceptable. Retrieval is weakest on patient-voice questions, which is how a real patient actually asks, so that is where we would improve next. And Flyway is disabled, so the schema comes from manually run scripts and nothing validates the migrations against the real database.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demonstrate four actions. I want to focus on step three: asking a question that is not covered by the documents, and hearing the assistant clearly say it does not know. That is the hardest behavior to achieve and one of the most important for a healthcare application. That concludes our presentation.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brief asks for directly: run the evaluation set and report the pass rate before and after an improvement. Our first live run scored 19 out of 25. All six failures gave the same reason, and tracing it showed the model returning the bracket numbers from the context block instead of the section ids. Those answers were otherwise correct: the right department and the right urgency. We changed one sentence of the triage prompt and the set went to 25 out of 25. We then ran it a second time and got 24 out of 25, with one case missing the same gate again. We show both runs because temperature is zero and retrieval is deterministic, so the remaining variation is in generation. The fix reduces the error; it does not remove it, and two runs are not enough to say what the remaining rate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41"/>
            <a:ext cx="10566400" cy="864394"/>
          </a:xfrm>
          <a:prstGeom prst="rect">
            <a:avLst/>
          </a:prstGeom>
          <a:noFill/>
          <a:ln/>
        </p:spPr>
        <p:txBody>
          <a:bodyPr wrap="square" lIns="0" tIns="0" rIns="0" bIns="0" rtlCol="0" anchor="t"/>
          <a:lstStyle>
            <a:lvl1pPr marL="0" indent="0" algn="l">
              <a:lnSpc>
                <a:spcPct val="115000"/>
              </a:lnSpc>
              <a:buNone/>
              <a:defRPr lang="en-US" sz="3600" dirty="0">
                <a:solidFill>
                  <a:srgbClr val="13294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332434"/>
            <a:ext cx="10566400" cy="3712766"/>
          </a:xfrm>
          <a:prstGeom prst="rect">
            <a:avLst/>
          </a:prstGeom>
          <a:noFill/>
          <a:ln/>
        </p:spPr>
        <p:txBody>
          <a:bodyPr wrap="square" lIns="0" tIns="0" rIns="0" bIns="0" rtlCol="0" anchor="t"/>
          <a:lstStyle>
            <a:lvl1pPr marL="0" indent="0" algn="l">
              <a:lnSpc>
                <a:spcPct val="140000"/>
              </a:lnSpc>
              <a:buNone/>
              <a:defRPr lang="en-US" sz="1600" dirty="0">
                <a:solidFill>
                  <a:srgbClr val="13294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41"/>
            <a:ext cx="10566400" cy="864394"/>
          </a:xfrm>
          <a:prstGeom prst="rect">
            <a:avLst/>
          </a:prstGeom>
          <a:noFill/>
          <a:ln/>
        </p:spPr>
        <p:txBody>
          <a:bodyPr wrap="square" lIns="0" tIns="0" rIns="0" bIns="0" rtlCol="0" anchor="t"/>
          <a:lstStyle>
            <a:lvl1pPr marL="0" indent="0" algn="l">
              <a:lnSpc>
                <a:spcPct val="115000"/>
              </a:lnSpc>
              <a:buNone/>
              <a:defRPr lang="en-US" sz="3600" dirty="0">
                <a:solidFill>
                  <a:srgbClr val="13294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332434"/>
            <a:ext cx="10566400" cy="3712766"/>
          </a:xfrm>
          <a:prstGeom prst="rect">
            <a:avLst/>
          </a:prstGeom>
          <a:noFill/>
          <a:ln/>
        </p:spPr>
        <p:txBody>
          <a:bodyPr wrap="square" lIns="0" tIns="0" rIns="0" bIns="0" rtlCol="0" anchor="t"/>
          <a:lstStyle>
            <a:lvl1pPr marL="0" indent="0" algn="l">
              <a:lnSpc>
                <a:spcPct val="140000"/>
              </a:lnSpc>
              <a:buNone/>
              <a:defRPr lang="en-US" sz="1600" dirty="0">
                <a:solidFill>
                  <a:srgbClr val="13294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FB3AE"/>
                </a:solidFill>
                <a:latin typeface="IBM Plex Sans" pitchFamily="34" charset="0"/>
                <a:ea typeface="IBM Plex Sans" pitchFamily="34" charset="-122"/>
                <a:cs typeface="IBM Plex Sans" pitchFamily="34" charset="-120"/>
              </a:rPr>
              <a:t>FINAL PROJECT · NEW TECHNOLOGIES IN SOFTWARE ENGINEERING</a:t>
            </a:r>
            <a:endParaRPr lang="en-US" sz="1400" dirty="0"/>
          </a:p>
        </p:txBody>
      </p:sp>
      <p:sp>
        <p:nvSpPr>
          <p:cNvPr id="3" name="Text 1"/>
          <p:cNvSpPr>
            <a:spLocks noGrp="1"/>
          </p:cNvSpPr>
          <p:nvPr>
            <p:ph type="title"/>
          </p:nvPr>
        </p:nvSpPr>
        <p:spPr>
          <a:xfrm>
            <a:off x="812800" y="1188641"/>
            <a:ext cx="10883392" cy="905470"/>
          </a:xfrm>
          <a:prstGeom prst="rect">
            <a:avLst/>
          </a:prstGeom>
          <a:noFill/>
          <a:ln/>
        </p:spPr>
        <p:txBody>
          <a:bodyPr wrap="square" lIns="0" tIns="0" rIns="0" bIns="0" rtlCol="0" anchor="t">
            <a:normAutofit/>
          </a:bodyPr>
          <a:lstStyle/>
          <a:p>
            <a:pPr marL="0" indent="0" algn="l">
              <a:lnSpc>
                <a:spcPts val="6930"/>
              </a:lnSpc>
              <a:buNone/>
            </a:pPr>
            <a:r>
              <a:rPr lang="en-US" sz="6600" b="1" i="0" dirty="0">
                <a:solidFill>
                  <a:srgbClr val="FBFBF8"/>
                </a:solidFill>
                <a:latin typeface="Source Serif 4" pitchFamily="18" charset="0"/>
                <a:ea typeface="Source Serif 4" pitchFamily="18" charset="-122"/>
                <a:cs typeface="Source Serif 4" pitchFamily="18" charset="-120"/>
              </a:rPr>
              <a:t>Smart Healthcare</a:t>
            </a:r>
            <a:endParaRPr lang="en-US" sz="6600" dirty="0"/>
          </a:p>
        </p:txBody>
      </p:sp>
      <p:sp>
        <p:nvSpPr>
          <p:cNvPr id="4" name="Text 2"/>
          <p:cNvSpPr/>
          <p:nvPr/>
        </p:nvSpPr>
        <p:spPr>
          <a:xfrm>
            <a:off x="812800" y="2195711"/>
            <a:ext cx="85026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8D4E4"/>
                </a:solidFill>
                <a:latin typeface="IBM Plex Sans" pitchFamily="34" charset="0"/>
                <a:ea typeface="IBM Plex Sans" pitchFamily="34" charset="-122"/>
                <a:cs typeface="IBM Plex Sans" pitchFamily="34" charset="-120"/>
              </a:rPr>
              <a:t>A medical appointment booking system with an AI assistant grounded in the clinic's own patient handouts</a:t>
            </a:r>
            <a:endParaRPr lang="en-US" sz="2200" dirty="0"/>
          </a:p>
        </p:txBody>
      </p:sp>
      <p:sp>
        <p:nvSpPr>
          <p:cNvPr id="5" name="Text 3"/>
          <p:cNvSpPr/>
          <p:nvPr/>
        </p:nvSpPr>
        <p:spPr>
          <a:xfrm>
            <a:off x="812800" y="5496620"/>
            <a:ext cx="1527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B3AE"/>
                </a:solidFill>
                <a:latin typeface="IBM Plex Sans" pitchFamily="34" charset="0"/>
                <a:ea typeface="IBM Plex Sans" pitchFamily="34" charset="-122"/>
                <a:cs typeface="IBM Plex Sans" pitchFamily="34" charset="-120"/>
              </a:rPr>
              <a:t>Team members</a:t>
            </a:r>
            <a:endParaRPr lang="en-US" sz="1200" dirty="0"/>
          </a:p>
        </p:txBody>
      </p:sp>
      <p:sp>
        <p:nvSpPr>
          <p:cNvPr id="6" name="Text 4"/>
          <p:cNvSpPr/>
          <p:nvPr/>
        </p:nvSpPr>
        <p:spPr>
          <a:xfrm>
            <a:off x="812800" y="5760740"/>
            <a:ext cx="177248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IBM Plex Sans" pitchFamily="34" charset="0"/>
                <a:ea typeface="IBM Plex Sans" pitchFamily="34" charset="-122"/>
                <a:cs typeface="IBM Plex Sans" pitchFamily="34" charset="-120"/>
              </a:rPr>
              <a:t>Huy · Lộc · Dũng</a:t>
            </a:r>
            <a:endParaRPr lang="en-US" sz="1600" dirty="0"/>
          </a:p>
        </p:txBody>
      </p:sp>
      <p:sp>
        <p:nvSpPr>
          <p:cNvPr id="7" name="Text 5"/>
          <p:cNvSpPr/>
          <p:nvPr/>
        </p:nvSpPr>
        <p:spPr>
          <a:xfrm>
            <a:off x="2797870" y="5496620"/>
            <a:ext cx="42060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B3AE"/>
                </a:solidFill>
                <a:latin typeface="IBM Plex Sans" pitchFamily="34" charset="0"/>
                <a:ea typeface="IBM Plex Sans" pitchFamily="34" charset="-122"/>
                <a:cs typeface="IBM Plex Sans" pitchFamily="34" charset="-120"/>
              </a:rPr>
              <a:t>Stack</a:t>
            </a:r>
            <a:endParaRPr lang="en-US" sz="1200" dirty="0"/>
          </a:p>
        </p:txBody>
      </p:sp>
      <p:sp>
        <p:nvSpPr>
          <p:cNvPr id="8" name="Text 6"/>
          <p:cNvSpPr/>
          <p:nvPr/>
        </p:nvSpPr>
        <p:spPr>
          <a:xfrm>
            <a:off x="2797870" y="5760740"/>
            <a:ext cx="490025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IBM Plex Sans" pitchFamily="34" charset="0"/>
                <a:ea typeface="IBM Plex Sans" pitchFamily="34" charset="-122"/>
                <a:cs typeface="IBM Plex Sans" pitchFamily="34" charset="-120"/>
              </a:rPr>
              <a:t>React 19 · Spring Boot · SQL Server · FastAPI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4021"/>
          </a:xfrm>
          <a:prstGeom prst="rect">
            <a:avLst/>
          </a:prstGeom>
          <a:noFill/>
          <a:ln/>
        </p:spPr>
        <p:txBody>
          <a:bodyPr wrap="square" lIns="0" tIns="0" rIns="0" bIns="0" rtlCol="0" anchor="t">
            <a:normAutofit/>
          </a:bodyPr>
          <a:lstStyle/>
          <a:p>
            <a:pPr marL="0" indent="0" algn="l">
              <a:lnSpc>
                <a:spcPts val="1923"/>
              </a:lnSpc>
              <a:buNone/>
            </a:pPr>
            <a:r>
              <a:rPr lang="en-US" sz="1374" kern="0" spc="100" dirty="0">
                <a:solidFill>
                  <a:srgbClr val="0F766E"/>
                </a:solidFill>
                <a:latin typeface="IBM Plex Sans" pitchFamily="34" charset="0"/>
                <a:ea typeface="IBM Plex Sans" pitchFamily="34" charset="-122"/>
                <a:cs typeface="IBM Plex Sans" pitchFamily="34" charset="-120"/>
              </a:rPr>
              <a:t>THE CHALLENGE</a:t>
            </a:r>
            <a:endParaRPr lang="en-US" sz="1374" dirty="0"/>
          </a:p>
        </p:txBody>
      </p:sp>
      <p:sp>
        <p:nvSpPr>
          <p:cNvPr id="3" name="Text 1"/>
          <p:cNvSpPr>
            <a:spLocks noGrp="1"/>
          </p:cNvSpPr>
          <p:nvPr>
            <p:ph type="title"/>
          </p:nvPr>
        </p:nvSpPr>
        <p:spPr>
          <a:xfrm>
            <a:off x="812800" y="1153021"/>
            <a:ext cx="9810750" cy="989806"/>
          </a:xfrm>
          <a:prstGeom prst="rect">
            <a:avLst/>
          </a:prstGeom>
          <a:noFill/>
          <a:ln/>
        </p:spPr>
        <p:txBody>
          <a:bodyPr wrap="square" lIns="0" tIns="0" rIns="0" bIns="0" rtlCol="0" anchor="t">
            <a:normAutofit/>
          </a:bodyPr>
          <a:lstStyle/>
          <a:p>
            <a:pPr marL="0" indent="0" algn="l">
              <a:lnSpc>
                <a:spcPts val="3812"/>
              </a:lnSpc>
              <a:buNone/>
            </a:pPr>
            <a:r>
              <a:rPr lang="en-US" sz="3465" b="1" i="0" dirty="0">
                <a:solidFill>
                  <a:srgbClr val="13294B"/>
                </a:solidFill>
                <a:latin typeface="Source Serif 4" pitchFamily="18" charset="0"/>
                <a:ea typeface="Source Serif 4" pitchFamily="18" charset="-122"/>
                <a:cs typeface="Source Serif 4" pitchFamily="18" charset="-120"/>
              </a:rPr>
              <a:t>One small clinic, three user groups, three distinct needs</a:t>
            </a:r>
            <a:endParaRPr lang="en-US" sz="3465" dirty="0"/>
          </a:p>
        </p:txBody>
      </p:sp>
      <p:sp>
        <p:nvSpPr>
          <p:cNvPr id="4" name="Shape 2"/>
          <p:cNvSpPr/>
          <p:nvPr/>
        </p:nvSpPr>
        <p:spPr>
          <a:xfrm>
            <a:off x="815975" y="2476202"/>
            <a:ext cx="3380284" cy="1648817"/>
          </a:xfrm>
          <a:prstGeom prst="roundRect">
            <a:avLst>
              <a:gd name="adj" fmla="val 5969"/>
            </a:avLst>
          </a:prstGeom>
          <a:solidFill>
            <a:srgbClr val="FFFFFF"/>
          </a:solidFill>
          <a:ln w="6350">
            <a:solidFill>
              <a:srgbClr val="DFE4EC"/>
            </a:solidFill>
            <a:prstDash val="solid"/>
          </a:ln>
        </p:spPr>
        <p:txBody>
          <a:bodyPr/>
          <a:lstStyle/>
          <a:p>
            <a:endParaRPr lang="vi-VN"/>
          </a:p>
        </p:txBody>
      </p:sp>
      <p:sp>
        <p:nvSpPr>
          <p:cNvPr id="5" name="Text 3"/>
          <p:cNvSpPr/>
          <p:nvPr/>
        </p:nvSpPr>
        <p:spPr>
          <a:xfrm>
            <a:off x="1098550" y="2758777"/>
            <a:ext cx="2899588" cy="282476"/>
          </a:xfrm>
          <a:prstGeom prst="rect">
            <a:avLst/>
          </a:prstGeom>
          <a:noFill/>
          <a:ln/>
        </p:spPr>
        <p:txBody>
          <a:bodyPr wrap="square" lIns="0" tIns="0" rIns="0" bIns="0" rtlCol="0" anchor="t">
            <a:normAutofit/>
          </a:bodyPr>
          <a:lstStyle/>
          <a:p>
            <a:pPr marL="0" indent="0" algn="l">
              <a:lnSpc>
                <a:spcPts val="2018"/>
              </a:lnSpc>
              <a:buNone/>
            </a:pPr>
            <a:r>
              <a:rPr lang="en-US" sz="1682" b="1" dirty="0">
                <a:solidFill>
                  <a:srgbClr val="13294B"/>
                </a:solidFill>
                <a:latin typeface="IBM Plex Sans" pitchFamily="34" charset="0"/>
                <a:ea typeface="IBM Plex Sans" pitchFamily="34" charset="-122"/>
                <a:cs typeface="IBM Plex Sans" pitchFamily="34" charset="-120"/>
              </a:rPr>
              <a:t>Patients</a:t>
            </a:r>
            <a:endParaRPr lang="en-US" sz="1682" dirty="0"/>
          </a:p>
        </p:txBody>
      </p:sp>
      <p:sp>
        <p:nvSpPr>
          <p:cNvPr id="6" name="Text 4"/>
          <p:cNvSpPr/>
          <p:nvPr/>
        </p:nvSpPr>
        <p:spPr>
          <a:xfrm>
            <a:off x="1098550" y="3117453"/>
            <a:ext cx="2899588" cy="750391"/>
          </a:xfrm>
          <a:prstGeom prst="rect">
            <a:avLst/>
          </a:prstGeom>
          <a:noFill/>
          <a:ln/>
        </p:spPr>
        <p:txBody>
          <a:bodyPr wrap="square" lIns="0" tIns="0" rIns="0" bIns="0" rtlCol="0" anchor="t">
            <a:normAutofit/>
          </a:bodyPr>
          <a:lstStyle/>
          <a:p>
            <a:pPr marL="0" indent="0" algn="l">
              <a:lnSpc>
                <a:spcPts val="1903"/>
              </a:lnSpc>
              <a:buNone/>
            </a:pPr>
            <a:r>
              <a:rPr lang="en-US" sz="1313" dirty="0">
                <a:solidFill>
                  <a:srgbClr val="4A5568"/>
                </a:solidFill>
                <a:latin typeface="IBM Plex Sans" pitchFamily="34" charset="0"/>
                <a:ea typeface="IBM Plex Sans" pitchFamily="34" charset="-122"/>
                <a:cs typeface="IBM Plex Sans" pitchFamily="34" charset="-120"/>
              </a:rPr>
              <a:t>Find doctors, book appointments, and ask specific questions about their symptoms before a visit.</a:t>
            </a:r>
            <a:endParaRPr lang="en-US" sz="1313" dirty="0"/>
          </a:p>
        </p:txBody>
      </p:sp>
      <p:sp>
        <p:nvSpPr>
          <p:cNvPr id="7" name="Shape 5"/>
          <p:cNvSpPr/>
          <p:nvPr/>
        </p:nvSpPr>
        <p:spPr>
          <a:xfrm>
            <a:off x="4405809" y="2476202"/>
            <a:ext cx="3380383" cy="1648817"/>
          </a:xfrm>
          <a:prstGeom prst="roundRect">
            <a:avLst>
              <a:gd name="adj" fmla="val 5969"/>
            </a:avLst>
          </a:prstGeom>
          <a:solidFill>
            <a:srgbClr val="FFFFFF"/>
          </a:solidFill>
          <a:ln w="6350">
            <a:solidFill>
              <a:srgbClr val="DFE4EC"/>
            </a:solidFill>
            <a:prstDash val="solid"/>
          </a:ln>
        </p:spPr>
        <p:txBody>
          <a:bodyPr/>
          <a:lstStyle/>
          <a:p>
            <a:endParaRPr lang="vi-VN"/>
          </a:p>
        </p:txBody>
      </p:sp>
      <p:sp>
        <p:nvSpPr>
          <p:cNvPr id="8" name="Text 6"/>
          <p:cNvSpPr/>
          <p:nvPr/>
        </p:nvSpPr>
        <p:spPr>
          <a:xfrm>
            <a:off x="4688384" y="2758777"/>
            <a:ext cx="2899690" cy="282476"/>
          </a:xfrm>
          <a:prstGeom prst="rect">
            <a:avLst/>
          </a:prstGeom>
          <a:noFill/>
          <a:ln/>
        </p:spPr>
        <p:txBody>
          <a:bodyPr wrap="square" lIns="0" tIns="0" rIns="0" bIns="0" rtlCol="0" anchor="t">
            <a:normAutofit/>
          </a:bodyPr>
          <a:lstStyle/>
          <a:p>
            <a:pPr marL="0" indent="0" algn="l">
              <a:lnSpc>
                <a:spcPts val="2018"/>
              </a:lnSpc>
              <a:buNone/>
            </a:pPr>
            <a:r>
              <a:rPr lang="en-US" sz="1682" b="1" dirty="0">
                <a:solidFill>
                  <a:srgbClr val="13294B"/>
                </a:solidFill>
                <a:latin typeface="IBM Plex Sans" pitchFamily="34" charset="0"/>
                <a:ea typeface="IBM Plex Sans" pitchFamily="34" charset="-122"/>
                <a:cs typeface="IBM Plex Sans" pitchFamily="34" charset="-120"/>
              </a:rPr>
              <a:t>Doctors</a:t>
            </a:r>
            <a:endParaRPr lang="en-US" sz="1682" dirty="0"/>
          </a:p>
        </p:txBody>
      </p:sp>
      <p:sp>
        <p:nvSpPr>
          <p:cNvPr id="9" name="Text 7"/>
          <p:cNvSpPr/>
          <p:nvPr/>
        </p:nvSpPr>
        <p:spPr>
          <a:xfrm>
            <a:off x="4688384" y="3117453"/>
            <a:ext cx="2899690" cy="750391"/>
          </a:xfrm>
          <a:prstGeom prst="rect">
            <a:avLst/>
          </a:prstGeom>
          <a:noFill/>
          <a:ln/>
        </p:spPr>
        <p:txBody>
          <a:bodyPr wrap="square" lIns="0" tIns="0" rIns="0" bIns="0" rtlCol="0" anchor="t">
            <a:normAutofit/>
          </a:bodyPr>
          <a:lstStyle/>
          <a:p>
            <a:pPr marL="0" indent="0" algn="l">
              <a:lnSpc>
                <a:spcPts val="1903"/>
              </a:lnSpc>
              <a:buNone/>
            </a:pPr>
            <a:r>
              <a:rPr lang="en-US" sz="1313" dirty="0">
                <a:solidFill>
                  <a:srgbClr val="4A5568"/>
                </a:solidFill>
                <a:latin typeface="IBM Plex Sans" pitchFamily="34" charset="0"/>
                <a:ea typeface="IBM Plex Sans" pitchFamily="34" charset="-122"/>
                <a:cs typeface="IBM Plex Sans" pitchFamily="34" charset="-120"/>
              </a:rPr>
              <a:t>Review today's appointments, update visit status, add notes, and report unexpected time off.</a:t>
            </a:r>
            <a:endParaRPr lang="en-US" sz="1313" dirty="0"/>
          </a:p>
        </p:txBody>
      </p:sp>
      <p:sp>
        <p:nvSpPr>
          <p:cNvPr id="10" name="Shape 8"/>
          <p:cNvSpPr/>
          <p:nvPr/>
        </p:nvSpPr>
        <p:spPr>
          <a:xfrm>
            <a:off x="7995741" y="2476202"/>
            <a:ext cx="3380284" cy="1648817"/>
          </a:xfrm>
          <a:prstGeom prst="roundRect">
            <a:avLst>
              <a:gd name="adj" fmla="val 5969"/>
            </a:avLst>
          </a:prstGeom>
          <a:solidFill>
            <a:srgbClr val="FFFFFF"/>
          </a:solidFill>
          <a:ln w="6350">
            <a:solidFill>
              <a:srgbClr val="DFE4EC"/>
            </a:solidFill>
            <a:prstDash val="solid"/>
          </a:ln>
        </p:spPr>
        <p:txBody>
          <a:bodyPr/>
          <a:lstStyle/>
          <a:p>
            <a:endParaRPr lang="vi-VN"/>
          </a:p>
        </p:txBody>
      </p:sp>
      <p:sp>
        <p:nvSpPr>
          <p:cNvPr id="11" name="Text 9"/>
          <p:cNvSpPr/>
          <p:nvPr/>
        </p:nvSpPr>
        <p:spPr>
          <a:xfrm>
            <a:off x="8278316" y="2758777"/>
            <a:ext cx="2899588" cy="282476"/>
          </a:xfrm>
          <a:prstGeom prst="rect">
            <a:avLst/>
          </a:prstGeom>
          <a:noFill/>
          <a:ln/>
        </p:spPr>
        <p:txBody>
          <a:bodyPr wrap="square" lIns="0" tIns="0" rIns="0" bIns="0" rtlCol="0" anchor="t">
            <a:normAutofit/>
          </a:bodyPr>
          <a:lstStyle/>
          <a:p>
            <a:pPr marL="0" indent="0" algn="l">
              <a:lnSpc>
                <a:spcPts val="2018"/>
              </a:lnSpc>
              <a:buNone/>
            </a:pPr>
            <a:r>
              <a:rPr lang="en-US" sz="1682" b="1" dirty="0">
                <a:solidFill>
                  <a:srgbClr val="13294B"/>
                </a:solidFill>
                <a:latin typeface="IBM Plex Sans" pitchFamily="34" charset="0"/>
                <a:ea typeface="IBM Plex Sans" pitchFamily="34" charset="-122"/>
                <a:cs typeface="IBM Plex Sans" pitchFamily="34" charset="-120"/>
              </a:rPr>
              <a:t>Administrators</a:t>
            </a:r>
            <a:endParaRPr lang="en-US" sz="1682" dirty="0"/>
          </a:p>
        </p:txBody>
      </p:sp>
      <p:sp>
        <p:nvSpPr>
          <p:cNvPr id="12" name="Text 10"/>
          <p:cNvSpPr/>
          <p:nvPr/>
        </p:nvSpPr>
        <p:spPr>
          <a:xfrm>
            <a:off x="8278316" y="3117453"/>
            <a:ext cx="2899588" cy="750391"/>
          </a:xfrm>
          <a:prstGeom prst="rect">
            <a:avLst/>
          </a:prstGeom>
          <a:noFill/>
          <a:ln/>
        </p:spPr>
        <p:txBody>
          <a:bodyPr wrap="square" lIns="0" tIns="0" rIns="0" bIns="0" rtlCol="0" anchor="t">
            <a:normAutofit/>
          </a:bodyPr>
          <a:lstStyle/>
          <a:p>
            <a:pPr marL="0" indent="0" algn="l">
              <a:lnSpc>
                <a:spcPts val="1903"/>
              </a:lnSpc>
              <a:buNone/>
            </a:pPr>
            <a:r>
              <a:rPr lang="en-US" sz="1313" dirty="0">
                <a:solidFill>
                  <a:srgbClr val="4A5568"/>
                </a:solidFill>
                <a:latin typeface="IBM Plex Sans" pitchFamily="34" charset="0"/>
                <a:ea typeface="IBM Plex Sans" pitchFamily="34" charset="-122"/>
                <a:cs typeface="IBM Plex Sans" pitchFamily="34" charset="-120"/>
              </a:rPr>
              <a:t>Approve doctor accounts, manage departments, and arrange weekly shifts for the clinic.</a:t>
            </a:r>
            <a:endParaRPr lang="en-US" sz="1313" dirty="0"/>
          </a:p>
        </p:txBody>
      </p:sp>
      <p:sp>
        <p:nvSpPr>
          <p:cNvPr id="13" name="Shape 11"/>
          <p:cNvSpPr/>
          <p:nvPr/>
        </p:nvSpPr>
        <p:spPr>
          <a:xfrm>
            <a:off x="812800" y="4483795"/>
            <a:ext cx="10566400" cy="1358205"/>
          </a:xfrm>
          <a:prstGeom prst="roundRect">
            <a:avLst>
              <a:gd name="adj" fmla="val 7480"/>
            </a:avLst>
          </a:prstGeom>
          <a:solidFill>
            <a:srgbClr val="13294B"/>
          </a:solidFill>
          <a:ln/>
        </p:spPr>
        <p:txBody>
          <a:bodyPr/>
          <a:lstStyle/>
          <a:p>
            <a:endParaRPr lang="vi-VN"/>
          </a:p>
        </p:txBody>
      </p:sp>
      <p:sp>
        <p:nvSpPr>
          <p:cNvPr id="14" name="Text 12"/>
          <p:cNvSpPr/>
          <p:nvPr/>
        </p:nvSpPr>
        <p:spPr>
          <a:xfrm>
            <a:off x="1092200" y="4737795"/>
            <a:ext cx="10307828" cy="875605"/>
          </a:xfrm>
          <a:prstGeom prst="rect">
            <a:avLst/>
          </a:prstGeom>
          <a:noFill/>
          <a:ln/>
        </p:spPr>
        <p:txBody>
          <a:bodyPr wrap="square" lIns="0" tIns="0" rIns="0" bIns="0" rtlCol="0" anchor="t">
            <a:normAutofit/>
          </a:bodyPr>
          <a:lstStyle/>
          <a:p>
            <a:pPr marL="0" indent="0" algn="l">
              <a:lnSpc>
                <a:spcPts val="2240"/>
              </a:lnSpc>
              <a:buNone/>
            </a:pPr>
            <a:r>
              <a:rPr lang="en-US" sz="1545" dirty="0">
                <a:solidFill>
                  <a:srgbClr val="FBFBF8"/>
                </a:solidFill>
                <a:latin typeface="IBM Plex Sans" pitchFamily="34" charset="0"/>
                <a:ea typeface="IBM Plex Sans" pitchFamily="34" charset="-122"/>
                <a:cs typeface="IBM Plex Sans" pitchFamily="34" charset="-120"/>
              </a:rPr>
              <a:t>Health questions are the hardest part: generic chatbots give generic advice. Our assistant answers only from </a:t>
            </a:r>
            <a:r>
              <a:rPr lang="en-US" sz="1545" b="1" dirty="0">
                <a:solidFill>
                  <a:srgbClr val="FBFBF8"/>
                </a:solidFill>
                <a:latin typeface="IBM Plex Sans" pitchFamily="34" charset="0"/>
                <a:ea typeface="IBM Plex Sans" pitchFamily="34" charset="-122"/>
                <a:cs typeface="IBM Plex Sans" pitchFamily="34" charset="-120"/>
              </a:rPr>
              <a:t>six patient handouts</a:t>
            </a:r>
            <a:r>
              <a:rPr lang="en-US" sz="1545" dirty="0">
                <a:solidFill>
                  <a:srgbClr val="FBFBF8"/>
                </a:solidFill>
                <a:latin typeface="IBM Plex Sans" pitchFamily="34" charset="0"/>
                <a:ea typeface="IBM Plex Sans" pitchFamily="34" charset="-122"/>
                <a:cs typeface="IBM Plex Sans" pitchFamily="34" charset="-120"/>
              </a:rPr>
              <a:t> actually distributed by the clinic, and admits when an answer is not in them.</a:t>
            </a:r>
            <a:endParaRPr lang="en-US" sz="1545" dirty="0"/>
          </a:p>
        </p:txBody>
      </p:sp>
      <p:sp>
        <p:nvSpPr>
          <p:cNvPr id="15" name="Text 13"/>
          <p:cNvSpPr/>
          <p:nvPr/>
        </p:nvSpPr>
        <p:spPr>
          <a:xfrm>
            <a:off x="812800" y="6238280"/>
            <a:ext cx="27562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Smart Healthcare · Final Presentation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Autofit/>
          </a:bodyPr>
          <a:lstStyle/>
          <a:p>
            <a:pPr marL="0" indent="0" algn="ctr">
              <a:lnSpc>
                <a:spcPts val="1960"/>
              </a:lnSpc>
              <a:buNone/>
            </a:pPr>
            <a:r>
              <a:rPr lang="en-US" sz="3000" kern="0" spc="100" dirty="0">
                <a:latin typeface="IBM Plex Sans" pitchFamily="34" charset="0"/>
                <a:ea typeface="IBM Plex Sans" pitchFamily="34" charset="-122"/>
                <a:cs typeface="IBM Plex Sans" pitchFamily="34" charset="-120"/>
              </a:rPr>
              <a:t>ARCHITECTURE</a:t>
            </a:r>
            <a:endParaRPr lang="en-US" sz="3000" dirty="0"/>
          </a:p>
        </p:txBody>
      </p:sp>
      <p:sp>
        <p:nvSpPr>
          <p:cNvPr id="4" name="Shape 2"/>
          <p:cNvSpPr/>
          <p:nvPr/>
        </p:nvSpPr>
        <p:spPr>
          <a:xfrm>
            <a:off x="812800" y="1970881"/>
            <a:ext cx="1905000" cy="3240881"/>
          </a:xfrm>
          <a:prstGeom prst="roundRect">
            <a:avLst>
              <a:gd name="adj" fmla="val 5333"/>
            </a:avLst>
          </a:prstGeom>
          <a:solidFill>
            <a:srgbClr val="13294B"/>
          </a:solidFill>
          <a:ln/>
        </p:spPr>
        <p:txBody>
          <a:bodyPr/>
          <a:lstStyle/>
          <a:p>
            <a:endParaRPr lang="vi-VN"/>
          </a:p>
        </p:txBody>
      </p:sp>
      <p:sp>
        <p:nvSpPr>
          <p:cNvPr id="5" name="Text 3"/>
          <p:cNvSpPr/>
          <p:nvPr/>
        </p:nvSpPr>
        <p:spPr>
          <a:xfrm>
            <a:off x="1041400" y="2199481"/>
            <a:ext cx="149860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7FB3AE"/>
                </a:solidFill>
                <a:latin typeface="IBM Plex Sans" pitchFamily="34" charset="0"/>
                <a:ea typeface="IBM Plex Sans" pitchFamily="34" charset="-122"/>
                <a:cs typeface="IBM Plex Sans" pitchFamily="34" charset="-120"/>
              </a:rPr>
              <a:t>FRONTEND</a:t>
            </a:r>
            <a:endParaRPr lang="en-US" sz="1200" dirty="0"/>
          </a:p>
        </p:txBody>
      </p:sp>
      <p:sp>
        <p:nvSpPr>
          <p:cNvPr id="6" name="Text 4"/>
          <p:cNvSpPr/>
          <p:nvPr/>
        </p:nvSpPr>
        <p:spPr>
          <a:xfrm>
            <a:off x="1041400" y="2501702"/>
            <a:ext cx="1498600"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BF8"/>
                </a:solidFill>
                <a:latin typeface="IBM Plex Sans" pitchFamily="34" charset="0"/>
                <a:ea typeface="IBM Plex Sans" pitchFamily="34" charset="-122"/>
                <a:cs typeface="IBM Plex Sans" pitchFamily="34" charset="-120"/>
              </a:rPr>
              <a:t>React 19 + Vite</a:t>
            </a:r>
            <a:endParaRPr lang="en-US" sz="1700" dirty="0"/>
          </a:p>
        </p:txBody>
      </p:sp>
      <p:sp>
        <p:nvSpPr>
          <p:cNvPr id="7" name="Text 5"/>
          <p:cNvSpPr/>
          <p:nvPr/>
        </p:nvSpPr>
        <p:spPr>
          <a:xfrm>
            <a:off x="1041400" y="3108722"/>
            <a:ext cx="149860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C8D4E4"/>
                </a:solidFill>
                <a:latin typeface="IBM Plex Sans" pitchFamily="34" charset="0"/>
                <a:ea typeface="IBM Plex Sans" pitchFamily="34" charset="-122"/>
                <a:cs typeface="IBM Plex Sans" pitchFamily="34" charset="-120"/>
              </a:rPr>
              <a:t>Public pages, patient portal, doctor portal, admin portal, and chat widget</a:t>
            </a:r>
            <a:endParaRPr lang="en-US" sz="1250" dirty="0"/>
          </a:p>
        </p:txBody>
      </p:sp>
      <p:pic>
        <p:nvPicPr>
          <p:cNvPr id="8" name="Image 0" descr="arrow-right"/>
          <p:cNvPicPr>
            <a:picLocks noChangeAspect="1"/>
          </p:cNvPicPr>
          <p:nvPr/>
        </p:nvPicPr>
        <p:blipFill>
          <a:blip r:embed="rId3"/>
          <a:srcRect/>
          <a:stretch/>
        </p:blipFill>
        <p:spPr>
          <a:xfrm>
            <a:off x="2895600" y="3489722"/>
            <a:ext cx="406400" cy="203200"/>
          </a:xfrm>
          <a:prstGeom prst="rect">
            <a:avLst/>
          </a:prstGeom>
        </p:spPr>
      </p:pic>
      <p:sp>
        <p:nvSpPr>
          <p:cNvPr id="9" name="Shape 6"/>
          <p:cNvSpPr/>
          <p:nvPr/>
        </p:nvSpPr>
        <p:spPr>
          <a:xfrm>
            <a:off x="3482975" y="1974056"/>
            <a:ext cx="5226050" cy="1177230"/>
          </a:xfrm>
          <a:prstGeom prst="roundRect">
            <a:avLst>
              <a:gd name="adj" fmla="val 8361"/>
            </a:avLst>
          </a:prstGeom>
          <a:solidFill>
            <a:srgbClr val="FFFFFF"/>
          </a:solidFill>
          <a:ln w="6350">
            <a:solidFill>
              <a:srgbClr val="DFE4EC"/>
            </a:solidFill>
            <a:prstDash val="solid"/>
          </a:ln>
        </p:spPr>
        <p:txBody>
          <a:bodyPr/>
          <a:lstStyle/>
          <a:p>
            <a:endParaRPr lang="vi-VN"/>
          </a:p>
        </p:txBody>
      </p:sp>
      <p:sp>
        <p:nvSpPr>
          <p:cNvPr id="10" name="Text 7"/>
          <p:cNvSpPr/>
          <p:nvPr/>
        </p:nvSpPr>
        <p:spPr>
          <a:xfrm>
            <a:off x="3689350" y="2180431"/>
            <a:ext cx="495769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94B"/>
                </a:solidFill>
                <a:latin typeface="IBM Plex Sans" pitchFamily="34" charset="0"/>
                <a:ea typeface="IBM Plex Sans" pitchFamily="34" charset="-122"/>
                <a:cs typeface="IBM Plex Sans" pitchFamily="34" charset="-120"/>
              </a:rPr>
              <a:t>Spring Boot — business logic</a:t>
            </a:r>
            <a:endParaRPr lang="en-US" sz="1600" dirty="0"/>
          </a:p>
        </p:txBody>
      </p:sp>
      <p:sp>
        <p:nvSpPr>
          <p:cNvPr id="11" name="Text 8"/>
          <p:cNvSpPr/>
          <p:nvPr/>
        </p:nvSpPr>
        <p:spPr>
          <a:xfrm>
            <a:off x="3689350" y="2500412"/>
            <a:ext cx="4957699"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Accounts · JWT · Google OAuth2 · doctors · departments · shifts · bookings</a:t>
            </a:r>
            <a:endParaRPr lang="en-US" sz="1250" dirty="0"/>
          </a:p>
        </p:txBody>
      </p:sp>
      <p:sp>
        <p:nvSpPr>
          <p:cNvPr id="12" name="Shape 9"/>
          <p:cNvSpPr/>
          <p:nvPr/>
        </p:nvSpPr>
        <p:spPr>
          <a:xfrm>
            <a:off x="3482975" y="3284637"/>
            <a:ext cx="5226050" cy="954980"/>
          </a:xfrm>
          <a:prstGeom prst="roundRect">
            <a:avLst>
              <a:gd name="adj" fmla="val 10306"/>
            </a:avLst>
          </a:prstGeom>
          <a:solidFill>
            <a:srgbClr val="FFFFFF"/>
          </a:solidFill>
          <a:ln w="6350">
            <a:solidFill>
              <a:srgbClr val="DFE4EC"/>
            </a:solidFill>
            <a:prstDash val="solid"/>
          </a:ln>
        </p:spPr>
        <p:txBody>
          <a:bodyPr/>
          <a:lstStyle/>
          <a:p>
            <a:endParaRPr lang="vi-VN"/>
          </a:p>
        </p:txBody>
      </p:sp>
      <p:sp>
        <p:nvSpPr>
          <p:cNvPr id="13" name="Text 10"/>
          <p:cNvSpPr/>
          <p:nvPr/>
        </p:nvSpPr>
        <p:spPr>
          <a:xfrm>
            <a:off x="3689350" y="3491012"/>
            <a:ext cx="495769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94B"/>
                </a:solidFill>
                <a:latin typeface="IBM Plex Sans" pitchFamily="34" charset="0"/>
                <a:ea typeface="IBM Plex Sans" pitchFamily="34" charset="-122"/>
                <a:cs typeface="IBM Plex Sans" pitchFamily="34" charset="-120"/>
              </a:rPr>
              <a:t>FastAPI — AI assistant</a:t>
            </a:r>
            <a:endParaRPr lang="en-US" sz="1600" dirty="0"/>
          </a:p>
        </p:txBody>
      </p:sp>
      <p:sp>
        <p:nvSpPr>
          <p:cNvPr id="14" name="Text 11"/>
          <p:cNvSpPr/>
          <p:nvPr/>
        </p:nvSpPr>
        <p:spPr>
          <a:xfrm>
            <a:off x="3689350" y="3810992"/>
            <a:ext cx="4957699" cy="247650"/>
          </a:xfrm>
          <a:prstGeom prst="rect">
            <a:avLst/>
          </a:prstGeom>
          <a:noFill/>
          <a:ln/>
        </p:spPr>
        <p:txBody>
          <a:bodyPr wrap="square" lIns="0" tIns="0" rIns="0" bIns="0" rtlCol="0" anchor="t">
            <a:normAutofit fontScale="92500"/>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Query embedding · ChromaDB retrieval · streamed answer generation</a:t>
            </a:r>
            <a:endParaRPr lang="en-US" sz="1250" dirty="0"/>
          </a:p>
        </p:txBody>
      </p:sp>
      <p:pic>
        <p:nvPicPr>
          <p:cNvPr id="15" name="Image 1" descr="arrow-right"/>
          <p:cNvPicPr>
            <a:picLocks noChangeAspect="1"/>
          </p:cNvPicPr>
          <p:nvPr/>
        </p:nvPicPr>
        <p:blipFill>
          <a:blip r:embed="rId3"/>
          <a:srcRect/>
          <a:stretch/>
        </p:blipFill>
        <p:spPr>
          <a:xfrm>
            <a:off x="8890000" y="3489722"/>
            <a:ext cx="406400" cy="203200"/>
          </a:xfrm>
          <a:prstGeom prst="rect">
            <a:avLst/>
          </a:prstGeom>
        </p:spPr>
      </p:pic>
      <p:sp>
        <p:nvSpPr>
          <p:cNvPr id="16" name="Shape 12"/>
          <p:cNvSpPr/>
          <p:nvPr/>
        </p:nvSpPr>
        <p:spPr>
          <a:xfrm>
            <a:off x="9477375" y="1974056"/>
            <a:ext cx="1898650" cy="918170"/>
          </a:xfrm>
          <a:prstGeom prst="roundRect">
            <a:avLst>
              <a:gd name="adj" fmla="val 10720"/>
            </a:avLst>
          </a:prstGeom>
          <a:solidFill>
            <a:srgbClr val="EEF2F7"/>
          </a:solidFill>
          <a:ln w="6350">
            <a:solidFill>
              <a:srgbClr val="DFE4EC"/>
            </a:solidFill>
            <a:prstDash val="solid"/>
          </a:ln>
        </p:spPr>
        <p:txBody>
          <a:bodyPr/>
          <a:lstStyle/>
          <a:p>
            <a:endParaRPr lang="vi-VN"/>
          </a:p>
        </p:txBody>
      </p:sp>
      <p:sp>
        <p:nvSpPr>
          <p:cNvPr id="17" name="Text 13"/>
          <p:cNvSpPr/>
          <p:nvPr/>
        </p:nvSpPr>
        <p:spPr>
          <a:xfrm>
            <a:off x="9890125" y="2358032"/>
            <a:ext cx="15367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SQL Server</a:t>
            </a:r>
            <a:endParaRPr lang="en-US" sz="1500" dirty="0"/>
          </a:p>
        </p:txBody>
      </p:sp>
      <p:sp>
        <p:nvSpPr>
          <p:cNvPr id="18" name="Text 14"/>
          <p:cNvSpPr/>
          <p:nvPr/>
        </p:nvSpPr>
        <p:spPr>
          <a:xfrm>
            <a:off x="9683750" y="2472531"/>
            <a:ext cx="153670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9" name="Shape 15"/>
          <p:cNvSpPr/>
          <p:nvPr/>
        </p:nvSpPr>
        <p:spPr>
          <a:xfrm>
            <a:off x="9477375" y="3025577"/>
            <a:ext cx="1898650" cy="918170"/>
          </a:xfrm>
          <a:prstGeom prst="roundRect">
            <a:avLst>
              <a:gd name="adj" fmla="val 10720"/>
            </a:avLst>
          </a:prstGeom>
          <a:solidFill>
            <a:srgbClr val="EEF2F7"/>
          </a:solidFill>
          <a:ln w="6350">
            <a:solidFill>
              <a:srgbClr val="DFE4EC"/>
            </a:solidFill>
            <a:prstDash val="solid"/>
          </a:ln>
        </p:spPr>
        <p:txBody>
          <a:bodyPr/>
          <a:lstStyle/>
          <a:p>
            <a:endParaRPr lang="vi-VN"/>
          </a:p>
        </p:txBody>
      </p:sp>
      <p:sp>
        <p:nvSpPr>
          <p:cNvPr id="20" name="Text 16"/>
          <p:cNvSpPr/>
          <p:nvPr/>
        </p:nvSpPr>
        <p:spPr>
          <a:xfrm>
            <a:off x="9683750" y="3231952"/>
            <a:ext cx="15367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ChromaDB</a:t>
            </a:r>
            <a:endParaRPr lang="en-US" sz="1500" dirty="0"/>
          </a:p>
        </p:txBody>
      </p:sp>
      <p:sp>
        <p:nvSpPr>
          <p:cNvPr id="21" name="Text 17"/>
          <p:cNvSpPr/>
          <p:nvPr/>
        </p:nvSpPr>
        <p:spPr>
          <a:xfrm>
            <a:off x="9683750" y="3524052"/>
            <a:ext cx="153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33 text chunks</a:t>
            </a:r>
            <a:endParaRPr lang="en-US" sz="1200" dirty="0"/>
          </a:p>
        </p:txBody>
      </p:sp>
      <p:sp>
        <p:nvSpPr>
          <p:cNvPr id="22" name="Shape 18"/>
          <p:cNvSpPr/>
          <p:nvPr/>
        </p:nvSpPr>
        <p:spPr>
          <a:xfrm>
            <a:off x="9477375" y="4077097"/>
            <a:ext cx="1898650" cy="1131491"/>
          </a:xfrm>
          <a:prstGeom prst="roundRect">
            <a:avLst>
              <a:gd name="adj" fmla="val 8699"/>
            </a:avLst>
          </a:prstGeom>
          <a:solidFill>
            <a:srgbClr val="EEF2F7"/>
          </a:solidFill>
          <a:ln w="6350">
            <a:solidFill>
              <a:srgbClr val="DFE4EC"/>
            </a:solidFill>
            <a:prstDash val="solid"/>
          </a:ln>
        </p:spPr>
        <p:txBody>
          <a:bodyPr/>
          <a:lstStyle/>
          <a:p>
            <a:endParaRPr lang="vi-VN"/>
          </a:p>
        </p:txBody>
      </p:sp>
      <p:sp>
        <p:nvSpPr>
          <p:cNvPr id="23" name="Text 19"/>
          <p:cNvSpPr/>
          <p:nvPr/>
        </p:nvSpPr>
        <p:spPr>
          <a:xfrm>
            <a:off x="9683750" y="4283472"/>
            <a:ext cx="15367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Ollama · Gemini</a:t>
            </a:r>
            <a:endParaRPr lang="en-US" sz="1500" dirty="0"/>
          </a:p>
        </p:txBody>
      </p:sp>
      <p:sp>
        <p:nvSpPr>
          <p:cNvPr id="24" name="Text 20"/>
          <p:cNvSpPr/>
          <p:nvPr/>
        </p:nvSpPr>
        <p:spPr>
          <a:xfrm>
            <a:off x="9683750" y="4575572"/>
            <a:ext cx="15367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Embedding and text generation</a:t>
            </a:r>
            <a:endParaRPr lang="en-US" sz="1200" dirty="0"/>
          </a:p>
        </p:txBody>
      </p:sp>
      <p:sp>
        <p:nvSpPr>
          <p:cNvPr id="25" name="Text 21"/>
          <p:cNvSpPr/>
          <p:nvPr/>
        </p:nvSpPr>
        <p:spPr>
          <a:xfrm>
            <a:off x="812800" y="6238280"/>
            <a:ext cx="66416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API keys stay server-side; none appear in frontend code or Git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0F766E"/>
                </a:solidFill>
                <a:latin typeface="IBM Plex Sans" pitchFamily="34" charset="0"/>
                <a:ea typeface="IBM Plex Sans" pitchFamily="34" charset="-122"/>
                <a:cs typeface="IBM Plex Sans" pitchFamily="34" charset="-120"/>
              </a:rPr>
              <a:t>DATA FLOW OF AN AI QUESTION</a:t>
            </a:r>
            <a:endParaRPr lang="en-US" sz="1400" dirty="0"/>
          </a:p>
        </p:txBody>
      </p:sp>
      <p:sp>
        <p:nvSpPr>
          <p:cNvPr id="3" name="Text 1"/>
          <p:cNvSpPr>
            <a:spLocks noGrp="1"/>
          </p:cNvSpPr>
          <p:nvPr>
            <p:ph type="title"/>
          </p:nvPr>
        </p:nvSpPr>
        <p:spPr>
          <a:xfrm>
            <a:off x="812800" y="1163241"/>
            <a:ext cx="9810750"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94B"/>
                </a:solidFill>
                <a:latin typeface="Source Serif 4" pitchFamily="18" charset="0"/>
                <a:ea typeface="Source Serif 4" pitchFamily="18" charset="-122"/>
                <a:cs typeface="Source Serif 4" pitchFamily="18" charset="-120"/>
              </a:rPr>
              <a:t>Where does “How many puffs during an asthma attack?” go?</a:t>
            </a:r>
            <a:endParaRPr lang="en-US" sz="3600" dirty="0"/>
          </a:p>
        </p:txBody>
      </p:sp>
      <p:sp>
        <p:nvSpPr>
          <p:cNvPr id="4" name="Shape 2"/>
          <p:cNvSpPr/>
          <p:nvPr/>
        </p:nvSpPr>
        <p:spPr>
          <a:xfrm>
            <a:off x="815975" y="2502297"/>
            <a:ext cx="2520950" cy="1451471"/>
          </a:xfrm>
          <a:prstGeom prst="roundRect">
            <a:avLst>
              <a:gd name="adj" fmla="val 6781"/>
            </a:avLst>
          </a:prstGeom>
          <a:solidFill>
            <a:srgbClr val="FFFFFF"/>
          </a:solidFill>
          <a:ln w="6350">
            <a:solidFill>
              <a:srgbClr val="DFE4EC"/>
            </a:solidFill>
            <a:prstDash val="solid"/>
          </a:ln>
        </p:spPr>
        <p:txBody>
          <a:bodyPr/>
          <a:lstStyle/>
          <a:p>
            <a:endParaRPr lang="vi-VN"/>
          </a:p>
        </p:txBody>
      </p:sp>
      <p:sp>
        <p:nvSpPr>
          <p:cNvPr id="5" name="Text 3"/>
          <p:cNvSpPr/>
          <p:nvPr/>
        </p:nvSpPr>
        <p:spPr>
          <a:xfrm>
            <a:off x="1022350" y="2708672"/>
            <a:ext cx="217144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66E"/>
                </a:solidFill>
                <a:latin typeface="IBM Plex Sans" pitchFamily="34" charset="0"/>
                <a:ea typeface="IBM Plex Sans" pitchFamily="34" charset="-122"/>
                <a:cs typeface="IBM Plex Sans" pitchFamily="34" charset="-120"/>
              </a:rPr>
              <a:t>01</a:t>
            </a:r>
            <a:endParaRPr lang="en-US" sz="1300" dirty="0"/>
          </a:p>
        </p:txBody>
      </p:sp>
      <p:sp>
        <p:nvSpPr>
          <p:cNvPr id="6" name="Text 4"/>
          <p:cNvSpPr/>
          <p:nvPr/>
        </p:nvSpPr>
        <p:spPr>
          <a:xfrm>
            <a:off x="1022350" y="3015952"/>
            <a:ext cx="217144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Embed the query</a:t>
            </a:r>
            <a:endParaRPr lang="en-US" sz="1500" dirty="0"/>
          </a:p>
        </p:txBody>
      </p:sp>
      <p:sp>
        <p:nvSpPr>
          <p:cNvPr id="7" name="Text 5"/>
          <p:cNvSpPr/>
          <p:nvPr/>
        </p:nvSpPr>
        <p:spPr>
          <a:xfrm>
            <a:off x="1022350" y="3320752"/>
            <a:ext cx="2171446" cy="452041"/>
          </a:xfrm>
          <a:prstGeom prst="rect">
            <a:avLst/>
          </a:prstGeom>
          <a:noFill/>
          <a:ln/>
        </p:spPr>
        <p:txBody>
          <a:bodyPr wrap="square" lIns="0" tIns="0" rIns="0" bIns="0" rtlCol="0" anchor="t">
            <a:normAutofit fontScale="85000" lnSpcReduction="10000"/>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nomic-embed-text, 768 dimensions, with search_query: prefix</a:t>
            </a:r>
            <a:endParaRPr lang="en-US" sz="1200" dirty="0"/>
          </a:p>
        </p:txBody>
      </p:sp>
      <p:sp>
        <p:nvSpPr>
          <p:cNvPr id="8" name="Shape 6"/>
          <p:cNvSpPr/>
          <p:nvPr/>
        </p:nvSpPr>
        <p:spPr>
          <a:xfrm>
            <a:off x="3495675" y="2502297"/>
            <a:ext cx="2520950" cy="1451471"/>
          </a:xfrm>
          <a:prstGeom prst="roundRect">
            <a:avLst>
              <a:gd name="adj" fmla="val 6781"/>
            </a:avLst>
          </a:prstGeom>
          <a:solidFill>
            <a:srgbClr val="FFFFFF"/>
          </a:solidFill>
          <a:ln w="6350">
            <a:solidFill>
              <a:srgbClr val="DFE4EC"/>
            </a:solidFill>
            <a:prstDash val="solid"/>
          </a:ln>
        </p:spPr>
        <p:txBody>
          <a:bodyPr/>
          <a:lstStyle/>
          <a:p>
            <a:endParaRPr lang="vi-VN"/>
          </a:p>
        </p:txBody>
      </p:sp>
      <p:sp>
        <p:nvSpPr>
          <p:cNvPr id="9" name="Text 7"/>
          <p:cNvSpPr/>
          <p:nvPr/>
        </p:nvSpPr>
        <p:spPr>
          <a:xfrm>
            <a:off x="3702050" y="2708672"/>
            <a:ext cx="217144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66E"/>
                </a:solidFill>
                <a:latin typeface="IBM Plex Sans" pitchFamily="34" charset="0"/>
                <a:ea typeface="IBM Plex Sans" pitchFamily="34" charset="-122"/>
                <a:cs typeface="IBM Plex Sans" pitchFamily="34" charset="-120"/>
              </a:rPr>
              <a:t>02</a:t>
            </a:r>
            <a:endParaRPr lang="en-US" sz="1300" dirty="0"/>
          </a:p>
        </p:txBody>
      </p:sp>
      <p:sp>
        <p:nvSpPr>
          <p:cNvPr id="10" name="Text 8"/>
          <p:cNvSpPr/>
          <p:nvPr/>
        </p:nvSpPr>
        <p:spPr>
          <a:xfrm>
            <a:off x="3702050" y="3015952"/>
            <a:ext cx="217144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Search ChromaDB</a:t>
            </a:r>
            <a:endParaRPr lang="en-US" sz="1500" dirty="0"/>
          </a:p>
        </p:txBody>
      </p:sp>
      <p:sp>
        <p:nvSpPr>
          <p:cNvPr id="11" name="Text 9"/>
          <p:cNvSpPr/>
          <p:nvPr/>
        </p:nvSpPr>
        <p:spPr>
          <a:xfrm>
            <a:off x="3702050" y="332075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Cosine similarity; top 3 of 33 chunks</a:t>
            </a:r>
            <a:endParaRPr lang="en-US" sz="1200" dirty="0"/>
          </a:p>
        </p:txBody>
      </p:sp>
      <p:sp>
        <p:nvSpPr>
          <p:cNvPr id="12" name="Shape 10"/>
          <p:cNvSpPr/>
          <p:nvPr/>
        </p:nvSpPr>
        <p:spPr>
          <a:xfrm>
            <a:off x="6175375" y="2502297"/>
            <a:ext cx="2520950" cy="1451471"/>
          </a:xfrm>
          <a:prstGeom prst="roundRect">
            <a:avLst>
              <a:gd name="adj" fmla="val 6781"/>
            </a:avLst>
          </a:prstGeom>
          <a:solidFill>
            <a:srgbClr val="FFFFFF"/>
          </a:solidFill>
          <a:ln w="6350">
            <a:solidFill>
              <a:srgbClr val="DFE4EC"/>
            </a:solidFill>
            <a:prstDash val="solid"/>
          </a:ln>
        </p:spPr>
        <p:txBody>
          <a:bodyPr/>
          <a:lstStyle/>
          <a:p>
            <a:endParaRPr lang="vi-VN"/>
          </a:p>
        </p:txBody>
      </p:sp>
      <p:sp>
        <p:nvSpPr>
          <p:cNvPr id="13" name="Text 11"/>
          <p:cNvSpPr/>
          <p:nvPr/>
        </p:nvSpPr>
        <p:spPr>
          <a:xfrm>
            <a:off x="6381750" y="2708672"/>
            <a:ext cx="217144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66E"/>
                </a:solidFill>
                <a:latin typeface="IBM Plex Sans" pitchFamily="34" charset="0"/>
                <a:ea typeface="IBM Plex Sans" pitchFamily="34" charset="-122"/>
                <a:cs typeface="IBM Plex Sans" pitchFamily="34" charset="-120"/>
              </a:rPr>
              <a:t>03</a:t>
            </a:r>
            <a:endParaRPr lang="en-US" sz="1300" dirty="0"/>
          </a:p>
        </p:txBody>
      </p:sp>
      <p:sp>
        <p:nvSpPr>
          <p:cNvPr id="14" name="Text 12"/>
          <p:cNvSpPr/>
          <p:nvPr/>
        </p:nvSpPr>
        <p:spPr>
          <a:xfrm>
            <a:off x="6381750" y="3015952"/>
            <a:ext cx="217144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Build the prompt</a:t>
            </a:r>
            <a:endParaRPr lang="en-US" sz="1500" dirty="0"/>
          </a:p>
        </p:txBody>
      </p:sp>
      <p:sp>
        <p:nvSpPr>
          <p:cNvPr id="15" name="Text 13"/>
          <p:cNvSpPr/>
          <p:nvPr/>
        </p:nvSpPr>
        <p:spPr>
          <a:xfrm>
            <a:off x="6381750" y="332075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SYSTEM_PROMPT v2 + 3 chunks + question</a:t>
            </a:r>
            <a:endParaRPr lang="en-US" sz="1200" dirty="0"/>
          </a:p>
        </p:txBody>
      </p:sp>
      <p:sp>
        <p:nvSpPr>
          <p:cNvPr id="16" name="Shape 14"/>
          <p:cNvSpPr/>
          <p:nvPr/>
        </p:nvSpPr>
        <p:spPr>
          <a:xfrm>
            <a:off x="8855075" y="2502297"/>
            <a:ext cx="2520950" cy="1451471"/>
          </a:xfrm>
          <a:prstGeom prst="roundRect">
            <a:avLst>
              <a:gd name="adj" fmla="val 6781"/>
            </a:avLst>
          </a:prstGeom>
          <a:solidFill>
            <a:srgbClr val="FFFFFF"/>
          </a:solidFill>
          <a:ln w="6350">
            <a:solidFill>
              <a:srgbClr val="DFE4EC"/>
            </a:solidFill>
            <a:prstDash val="solid"/>
          </a:ln>
        </p:spPr>
        <p:txBody>
          <a:bodyPr/>
          <a:lstStyle/>
          <a:p>
            <a:endParaRPr lang="vi-VN"/>
          </a:p>
        </p:txBody>
      </p:sp>
      <p:sp>
        <p:nvSpPr>
          <p:cNvPr id="17" name="Text 15"/>
          <p:cNvSpPr/>
          <p:nvPr/>
        </p:nvSpPr>
        <p:spPr>
          <a:xfrm>
            <a:off x="9061450" y="2708672"/>
            <a:ext cx="217144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66E"/>
                </a:solidFill>
                <a:latin typeface="IBM Plex Sans" pitchFamily="34" charset="0"/>
                <a:ea typeface="IBM Plex Sans" pitchFamily="34" charset="-122"/>
                <a:cs typeface="IBM Plex Sans" pitchFamily="34" charset="-120"/>
              </a:rPr>
              <a:t>04</a:t>
            </a:r>
            <a:endParaRPr lang="en-US" sz="1300" dirty="0"/>
          </a:p>
        </p:txBody>
      </p:sp>
      <p:sp>
        <p:nvSpPr>
          <p:cNvPr id="18" name="Text 16"/>
          <p:cNvSpPr/>
          <p:nvPr/>
        </p:nvSpPr>
        <p:spPr>
          <a:xfrm>
            <a:off x="9061450" y="3015952"/>
            <a:ext cx="217144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Stream the answer</a:t>
            </a:r>
            <a:endParaRPr lang="en-US" sz="1500" dirty="0"/>
          </a:p>
        </p:txBody>
      </p:sp>
      <p:sp>
        <p:nvSpPr>
          <p:cNvPr id="19" name="Text 17"/>
          <p:cNvSpPr/>
          <p:nvPr/>
        </p:nvSpPr>
        <p:spPr>
          <a:xfrm>
            <a:off x="9061450" y="332075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NDJSON: citations first, then tokens</a:t>
            </a:r>
            <a:endParaRPr lang="en-US" sz="1200" dirty="0"/>
          </a:p>
        </p:txBody>
      </p:sp>
      <p:sp>
        <p:nvSpPr>
          <p:cNvPr id="20" name="Text 18"/>
          <p:cNvSpPr/>
          <p:nvPr/>
        </p:nvSpPr>
        <p:spPr>
          <a:xfrm>
            <a:off x="812800" y="4109343"/>
            <a:ext cx="10566400" cy="1046361"/>
          </a:xfrm>
          <a:prstGeom prst="roundRect">
            <a:avLst>
              <a:gd name="adj" fmla="val 9710"/>
            </a:avLst>
          </a:prstGeom>
          <a:solidFill>
            <a:srgbClr val="0F766E"/>
          </a:solidFill>
          <a:ln/>
        </p:spPr>
        <p:txBody>
          <a:bodyPr wrap="square" lIns="249642" tIns="198842" rIns="0" bIns="173442" rtlCol="0" anchor="t">
            <a:normAutofit/>
          </a:bodyPr>
          <a:lstStyle/>
          <a:p>
            <a:pPr marL="0" indent="0" algn="l">
              <a:lnSpc>
                <a:spcPts val="2320"/>
              </a:lnSpc>
              <a:buNone/>
            </a:pPr>
            <a:r>
              <a:rPr lang="en-US" sz="1600" dirty="0">
                <a:solidFill>
                  <a:srgbClr val="FBFBF8"/>
                </a:solidFill>
                <a:latin typeface="IBM Plex Sans" pitchFamily="34" charset="0"/>
                <a:ea typeface="IBM Plex Sans" pitchFamily="34" charset="-122"/>
                <a:cs typeface="IBM Plex Sans" pitchFamily="34" charset="-120"/>
              </a:rPr>
              <a:t>Citations are sent </a:t>
            </a:r>
            <a:r>
              <a:rPr lang="en-US" sz="1600" b="1" dirty="0">
                <a:solidFill>
                  <a:srgbClr val="FBFBF8"/>
                </a:solidFill>
                <a:latin typeface="IBM Plex Sans" pitchFamily="34" charset="0"/>
                <a:ea typeface="IBM Plex Sans" pitchFamily="34" charset="-122"/>
                <a:cs typeface="IBM Plex Sans" pitchFamily="34" charset="-120"/>
              </a:rPr>
              <a:t>before</a:t>
            </a:r>
            <a:r>
              <a:rPr lang="en-US" sz="1600" dirty="0">
                <a:solidFill>
                  <a:srgbClr val="FBFBF8"/>
                </a:solidFill>
                <a:latin typeface="IBM Plex Sans" pitchFamily="34" charset="0"/>
                <a:ea typeface="IBM Plex Sans" pitchFamily="34" charset="-122"/>
                <a:cs typeface="IBM Plex Sans" pitchFamily="34" charset="-120"/>
              </a:rPr>
              <a:t> the answer. Users can see which clinic handout the assistant is consulting as soon as processing begins, rather than waiting until the end.</a:t>
            </a:r>
            <a:endParaRPr lang="en-US" sz="1600" dirty="0"/>
          </a:p>
        </p:txBody>
      </p:sp>
      <p:sp>
        <p:nvSpPr>
          <p:cNvPr id="21" name="Text 19"/>
          <p:cNvSpPr/>
          <p:nvPr/>
        </p:nvSpPr>
        <p:spPr>
          <a:xfrm>
            <a:off x="812800" y="6238280"/>
            <a:ext cx="70579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Streaming via NDJSON · EventSource cannot send a POST body, so SSE is not used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9316"/>
          </a:xfrm>
          <a:prstGeom prst="rect">
            <a:avLst/>
          </a:prstGeom>
          <a:noFill/>
          <a:ln/>
        </p:spPr>
        <p:txBody>
          <a:bodyPr wrap="square" lIns="0" tIns="0" rIns="0" bIns="0" rtlCol="0" anchor="t">
            <a:normAutofit/>
          </a:bodyPr>
          <a:lstStyle/>
          <a:p>
            <a:pPr marL="0" indent="0" algn="l">
              <a:lnSpc>
                <a:spcPts val="1721"/>
              </a:lnSpc>
              <a:buNone/>
            </a:pPr>
            <a:r>
              <a:rPr lang="en-US" sz="1229" kern="0" spc="100" dirty="0">
                <a:solidFill>
                  <a:srgbClr val="0F766E"/>
                </a:solidFill>
                <a:latin typeface="IBM Plex Sans" pitchFamily="34" charset="0"/>
                <a:ea typeface="IBM Plex Sans" pitchFamily="34" charset="-122"/>
                <a:cs typeface="IBM Plex Sans" pitchFamily="34" charset="-120"/>
              </a:rPr>
              <a:t>MODEL SELECTION · MEASURED, NOT ASSUMED</a:t>
            </a:r>
            <a:endParaRPr lang="en-US" sz="1229" dirty="0"/>
          </a:p>
        </p:txBody>
      </p:sp>
      <p:sp>
        <p:nvSpPr>
          <p:cNvPr id="3" name="Text 1"/>
          <p:cNvSpPr>
            <a:spLocks noGrp="1"/>
          </p:cNvSpPr>
          <p:nvPr>
            <p:ph type="title"/>
          </p:nvPr>
        </p:nvSpPr>
        <p:spPr>
          <a:xfrm>
            <a:off x="812800" y="1128316"/>
            <a:ext cx="10072370" cy="889794"/>
          </a:xfrm>
          <a:prstGeom prst="rect">
            <a:avLst/>
          </a:prstGeom>
          <a:noFill/>
          <a:ln/>
        </p:spPr>
        <p:txBody>
          <a:bodyPr wrap="square" lIns="0" tIns="0" rIns="0" bIns="0" rtlCol="0" anchor="t">
            <a:normAutofit/>
          </a:bodyPr>
          <a:lstStyle/>
          <a:p>
            <a:pPr marL="0" indent="0" algn="l">
              <a:lnSpc>
                <a:spcPts val="3403"/>
              </a:lnSpc>
              <a:buNone/>
            </a:pPr>
            <a:r>
              <a:rPr lang="en-US" sz="3094" b="1" i="0" dirty="0">
                <a:solidFill>
                  <a:srgbClr val="13294B"/>
                </a:solidFill>
                <a:latin typeface="Source Serif 4" pitchFamily="18" charset="0"/>
                <a:ea typeface="Source Serif 4" pitchFamily="18" charset="-122"/>
                <a:cs typeface="Source Serif 4" pitchFamily="18" charset="-120"/>
              </a:rPr>
              <a:t>Ollama for evaluation, Gemini for use — guided by one measurement</a:t>
            </a:r>
            <a:endParaRPr lang="en-US" sz="3094" dirty="0"/>
          </a:p>
        </p:txBody>
      </p:sp>
      <p:sp>
        <p:nvSpPr>
          <p:cNvPr id="4" name="Text 2"/>
          <p:cNvSpPr/>
          <p:nvPr/>
        </p:nvSpPr>
        <p:spPr>
          <a:xfrm>
            <a:off x="812800" y="2297509"/>
            <a:ext cx="10883392" cy="240407"/>
          </a:xfrm>
          <a:prstGeom prst="rect">
            <a:avLst/>
          </a:prstGeom>
          <a:noFill/>
          <a:ln/>
        </p:spPr>
        <p:txBody>
          <a:bodyPr wrap="square" lIns="0" tIns="0" rIns="0" bIns="0" rtlCol="0" anchor="t">
            <a:normAutofit/>
          </a:bodyPr>
          <a:lstStyle/>
          <a:p>
            <a:pPr marL="0" indent="0" algn="l">
              <a:lnSpc>
                <a:spcPts val="1721"/>
              </a:lnSpc>
              <a:buNone/>
            </a:pPr>
            <a:r>
              <a:rPr lang="en-US" sz="1229" dirty="0">
                <a:solidFill>
                  <a:srgbClr val="4A5568"/>
                </a:solidFill>
                <a:latin typeface="IBM Plex Sans" pitchFamily="34" charset="0"/>
                <a:ea typeface="IBM Plex Sans" pitchFamily="34" charset="-122"/>
                <a:cs typeface="IBM Plex Sans" pitchFamily="34" charset="-120"/>
              </a:rPr>
              <a:t>Median end-to-end latency per question on a warmed-up machine</a:t>
            </a:r>
            <a:endParaRPr lang="en-US" sz="1229" dirty="0"/>
          </a:p>
        </p:txBody>
      </p:sp>
      <p:sp>
        <p:nvSpPr>
          <p:cNvPr id="5" name="Shape 3"/>
          <p:cNvSpPr/>
          <p:nvPr/>
        </p:nvSpPr>
        <p:spPr>
          <a:xfrm>
            <a:off x="815975" y="2604591"/>
            <a:ext cx="1898650" cy="1441152"/>
          </a:xfrm>
          <a:prstGeom prst="roundRect">
            <a:avLst>
              <a:gd name="adj" fmla="val 6830"/>
            </a:avLst>
          </a:prstGeom>
          <a:solidFill>
            <a:srgbClr val="FFFFFF"/>
          </a:solidFill>
          <a:ln w="6350">
            <a:solidFill>
              <a:srgbClr val="DFE4EC"/>
            </a:solidFill>
            <a:prstDash val="solid"/>
          </a:ln>
        </p:spPr>
        <p:txBody>
          <a:bodyPr/>
          <a:lstStyle/>
          <a:p>
            <a:endParaRPr lang="vi-VN"/>
          </a:p>
        </p:txBody>
      </p:sp>
      <p:sp>
        <p:nvSpPr>
          <p:cNvPr id="6" name="Text 4"/>
          <p:cNvSpPr/>
          <p:nvPr/>
        </p:nvSpPr>
        <p:spPr>
          <a:xfrm>
            <a:off x="1022350" y="2810966"/>
            <a:ext cx="1536700" cy="24636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Query embedding</a:t>
            </a:r>
            <a:endParaRPr lang="en-US" sz="1250" dirty="0"/>
          </a:p>
        </p:txBody>
      </p:sp>
      <p:sp>
        <p:nvSpPr>
          <p:cNvPr id="7" name="Text 5"/>
          <p:cNvSpPr/>
          <p:nvPr/>
        </p:nvSpPr>
        <p:spPr>
          <a:xfrm>
            <a:off x="1022350" y="3095427"/>
            <a:ext cx="1536700" cy="484882"/>
          </a:xfrm>
          <a:prstGeom prst="rect">
            <a:avLst/>
          </a:prstGeom>
          <a:noFill/>
          <a:ln/>
        </p:spPr>
        <p:txBody>
          <a:bodyPr wrap="square" lIns="0" tIns="0" rIns="0" bIns="0" rtlCol="0" anchor="t">
            <a:normAutofit/>
          </a:bodyPr>
          <a:lstStyle/>
          <a:p>
            <a:pPr marL="0" indent="0" algn="l">
              <a:lnSpc>
                <a:spcPts val="3617"/>
              </a:lnSpc>
              <a:buNone/>
            </a:pPr>
            <a:r>
              <a:rPr lang="en-US" sz="2584" b="1" dirty="0">
                <a:solidFill>
                  <a:srgbClr val="13294B"/>
                </a:solidFill>
                <a:latin typeface="IBM Plex Sans" pitchFamily="34" charset="0"/>
                <a:ea typeface="IBM Plex Sans" pitchFamily="34" charset="-122"/>
                <a:cs typeface="IBM Plex Sans" pitchFamily="34" charset="-120"/>
              </a:rPr>
              <a:t>2.17 s</a:t>
            </a:r>
            <a:endParaRPr lang="en-US" sz="2584" dirty="0"/>
          </a:p>
        </p:txBody>
      </p:sp>
      <p:sp>
        <p:nvSpPr>
          <p:cNvPr id="8" name="Text 6"/>
          <p:cNvSpPr/>
          <p:nvPr/>
        </p:nvSpPr>
        <p:spPr>
          <a:xfrm>
            <a:off x="1022350" y="3618409"/>
            <a:ext cx="1536700" cy="24636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8A94A6"/>
                </a:solidFill>
                <a:latin typeface="IBM Plex Sans" pitchFamily="34" charset="0"/>
                <a:ea typeface="IBM Plex Sans" pitchFamily="34" charset="-122"/>
                <a:cs typeface="IBM Plex Sans" pitchFamily="34" charset="-120"/>
              </a:rPr>
              <a:t>3.0%</a:t>
            </a:r>
            <a:endParaRPr lang="en-US" sz="1250" dirty="0"/>
          </a:p>
        </p:txBody>
      </p:sp>
      <p:sp>
        <p:nvSpPr>
          <p:cNvPr id="9" name="Shape 7"/>
          <p:cNvSpPr/>
          <p:nvPr/>
        </p:nvSpPr>
        <p:spPr>
          <a:xfrm>
            <a:off x="2847975" y="2604591"/>
            <a:ext cx="1898650" cy="1441152"/>
          </a:xfrm>
          <a:prstGeom prst="roundRect">
            <a:avLst>
              <a:gd name="adj" fmla="val 6830"/>
            </a:avLst>
          </a:prstGeom>
          <a:solidFill>
            <a:srgbClr val="FFFFFF"/>
          </a:solidFill>
          <a:ln w="6350">
            <a:solidFill>
              <a:srgbClr val="DFE4EC"/>
            </a:solidFill>
            <a:prstDash val="solid"/>
          </a:ln>
        </p:spPr>
        <p:txBody>
          <a:bodyPr/>
          <a:lstStyle/>
          <a:p>
            <a:endParaRPr lang="vi-VN"/>
          </a:p>
        </p:txBody>
      </p:sp>
      <p:sp>
        <p:nvSpPr>
          <p:cNvPr id="10" name="Text 8"/>
          <p:cNvSpPr/>
          <p:nvPr/>
        </p:nvSpPr>
        <p:spPr>
          <a:xfrm>
            <a:off x="3054350" y="2810966"/>
            <a:ext cx="1689100" cy="380305"/>
          </a:xfrm>
          <a:prstGeom prst="rect">
            <a:avLst/>
          </a:prstGeom>
          <a:noFill/>
          <a:ln/>
        </p:spPr>
        <p:txBody>
          <a:bodyPr wrap="square" lIns="0" tIns="0" rIns="0" bIns="0" rtlCol="0" anchor="t">
            <a:normAutofit/>
          </a:bodyPr>
          <a:lstStyle/>
          <a:p>
            <a:pPr marL="0" indent="0" algn="l">
              <a:lnSpc>
                <a:spcPts val="1745"/>
              </a:lnSpc>
              <a:buNone/>
            </a:pPr>
            <a:r>
              <a:rPr lang="en-US" sz="1246" dirty="0">
                <a:solidFill>
                  <a:srgbClr val="4A5568"/>
                </a:solidFill>
                <a:latin typeface="IBM Plex Sans" pitchFamily="34" charset="0"/>
                <a:ea typeface="IBM Plex Sans" pitchFamily="34" charset="-122"/>
                <a:cs typeface="IBM Plex Sans" pitchFamily="34" charset="-120"/>
              </a:rPr>
              <a:t>ChromaDB retrieval</a:t>
            </a:r>
            <a:endParaRPr lang="en-US" sz="1246" dirty="0"/>
          </a:p>
        </p:txBody>
      </p:sp>
      <p:sp>
        <p:nvSpPr>
          <p:cNvPr id="11" name="Text 9"/>
          <p:cNvSpPr/>
          <p:nvPr/>
        </p:nvSpPr>
        <p:spPr>
          <a:xfrm>
            <a:off x="3054350" y="3229372"/>
            <a:ext cx="1536700" cy="394494"/>
          </a:xfrm>
          <a:prstGeom prst="rect">
            <a:avLst/>
          </a:prstGeom>
          <a:noFill/>
          <a:ln/>
        </p:spPr>
        <p:txBody>
          <a:bodyPr wrap="square" lIns="0" tIns="0" rIns="0" bIns="0" rtlCol="0" anchor="t">
            <a:normAutofit/>
          </a:bodyPr>
          <a:lstStyle/>
          <a:p>
            <a:pPr marL="0" indent="0" algn="l">
              <a:lnSpc>
                <a:spcPts val="2923"/>
              </a:lnSpc>
              <a:buNone/>
            </a:pPr>
            <a:r>
              <a:rPr lang="en-US" sz="2088" b="1" dirty="0">
                <a:solidFill>
                  <a:srgbClr val="13294B"/>
                </a:solidFill>
                <a:latin typeface="IBM Plex Sans" pitchFamily="34" charset="0"/>
                <a:ea typeface="IBM Plex Sans" pitchFamily="34" charset="-122"/>
                <a:cs typeface="IBM Plex Sans" pitchFamily="34" charset="-120"/>
              </a:rPr>
              <a:t>0.004 s</a:t>
            </a:r>
            <a:endParaRPr lang="en-US" sz="2088" dirty="0"/>
          </a:p>
        </p:txBody>
      </p:sp>
      <p:sp>
        <p:nvSpPr>
          <p:cNvPr id="12" name="Text 10"/>
          <p:cNvSpPr/>
          <p:nvPr/>
        </p:nvSpPr>
        <p:spPr>
          <a:xfrm>
            <a:off x="3054350" y="3661966"/>
            <a:ext cx="1536700" cy="202803"/>
          </a:xfrm>
          <a:prstGeom prst="rect">
            <a:avLst/>
          </a:prstGeom>
          <a:noFill/>
          <a:ln/>
        </p:spPr>
        <p:txBody>
          <a:bodyPr wrap="square" lIns="0" tIns="0" rIns="0" bIns="0" rtlCol="0" anchor="t">
            <a:normAutofit/>
          </a:bodyPr>
          <a:lstStyle/>
          <a:p>
            <a:pPr marL="0" indent="0" algn="l">
              <a:lnSpc>
                <a:spcPts val="1422"/>
              </a:lnSpc>
              <a:buNone/>
            </a:pPr>
            <a:r>
              <a:rPr lang="en-US" sz="1016" dirty="0">
                <a:solidFill>
                  <a:srgbClr val="8A94A6"/>
                </a:solidFill>
                <a:latin typeface="IBM Plex Sans" pitchFamily="34" charset="0"/>
                <a:ea typeface="IBM Plex Sans" pitchFamily="34" charset="-122"/>
                <a:cs typeface="IBM Plex Sans" pitchFamily="34" charset="-120"/>
              </a:rPr>
              <a:t>0.0%</a:t>
            </a:r>
            <a:endParaRPr lang="en-US" sz="1016" dirty="0"/>
          </a:p>
        </p:txBody>
      </p:sp>
      <p:sp>
        <p:nvSpPr>
          <p:cNvPr id="13" name="Shape 11"/>
          <p:cNvSpPr/>
          <p:nvPr/>
        </p:nvSpPr>
        <p:spPr>
          <a:xfrm>
            <a:off x="4876800" y="2601416"/>
            <a:ext cx="6502400" cy="1447502"/>
          </a:xfrm>
          <a:prstGeom prst="roundRect">
            <a:avLst>
              <a:gd name="adj" fmla="val 7019"/>
            </a:avLst>
          </a:prstGeom>
          <a:solidFill>
            <a:srgbClr val="13294B"/>
          </a:solidFill>
          <a:ln/>
        </p:spPr>
        <p:txBody>
          <a:bodyPr/>
          <a:lstStyle/>
          <a:p>
            <a:endParaRPr lang="vi-VN"/>
          </a:p>
        </p:txBody>
      </p:sp>
      <p:sp>
        <p:nvSpPr>
          <p:cNvPr id="14" name="Text 12"/>
          <p:cNvSpPr/>
          <p:nvPr/>
        </p:nvSpPr>
        <p:spPr>
          <a:xfrm>
            <a:off x="5080000" y="2804616"/>
            <a:ext cx="627888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7FB3AE"/>
                </a:solidFill>
                <a:latin typeface="IBM Plex Sans" pitchFamily="34" charset="0"/>
                <a:ea typeface="IBM Plex Sans" pitchFamily="34" charset="-122"/>
                <a:cs typeface="IBM Plex Sans" pitchFamily="34" charset="-120"/>
              </a:rPr>
              <a:t>Answer generation with local qwen3</a:t>
            </a:r>
            <a:endParaRPr lang="en-US" sz="1250" dirty="0"/>
          </a:p>
        </p:txBody>
      </p:sp>
      <p:sp>
        <p:nvSpPr>
          <p:cNvPr id="15" name="Text 13"/>
          <p:cNvSpPr/>
          <p:nvPr/>
        </p:nvSpPr>
        <p:spPr>
          <a:xfrm>
            <a:off x="5080000" y="3090366"/>
            <a:ext cx="6278880" cy="48766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FBFBF8"/>
                </a:solidFill>
                <a:latin typeface="IBM Plex Sans" pitchFamily="34" charset="0"/>
                <a:ea typeface="IBM Plex Sans" pitchFamily="34" charset="-122"/>
                <a:cs typeface="IBM Plex Sans" pitchFamily="34" charset="-120"/>
              </a:rPr>
              <a:t>70.9 s</a:t>
            </a:r>
            <a:endParaRPr lang="en-US" sz="2600" dirty="0"/>
          </a:p>
        </p:txBody>
      </p:sp>
      <p:sp>
        <p:nvSpPr>
          <p:cNvPr id="16" name="Text 14"/>
          <p:cNvSpPr/>
          <p:nvPr/>
        </p:nvSpPr>
        <p:spPr>
          <a:xfrm>
            <a:off x="5080000" y="3616127"/>
            <a:ext cx="627888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C8D4E4"/>
                </a:solidFill>
                <a:latin typeface="IBM Plex Sans" pitchFamily="34" charset="0"/>
                <a:ea typeface="IBM Plex Sans" pitchFamily="34" charset="-122"/>
                <a:cs typeface="IBM Plex Sans" pitchFamily="34" charset="-120"/>
              </a:rPr>
              <a:t>97.0% — nearly all the waiting happens here</a:t>
            </a:r>
            <a:endParaRPr lang="en-US" sz="1250" dirty="0"/>
          </a:p>
        </p:txBody>
      </p:sp>
      <p:sp>
        <p:nvSpPr>
          <p:cNvPr id="17" name="Shape 15"/>
          <p:cNvSpPr/>
          <p:nvPr/>
        </p:nvSpPr>
        <p:spPr>
          <a:xfrm>
            <a:off x="2660603" y="4328122"/>
            <a:ext cx="3399334" cy="1488281"/>
          </a:xfrm>
          <a:prstGeom prst="roundRect">
            <a:avLst>
              <a:gd name="adj" fmla="val 6827"/>
            </a:avLst>
          </a:prstGeom>
          <a:solidFill>
            <a:srgbClr val="0F766E"/>
          </a:solidFill>
          <a:ln/>
        </p:spPr>
        <p:txBody>
          <a:bodyPr/>
          <a:lstStyle/>
          <a:p>
            <a:endParaRPr lang="vi-VN"/>
          </a:p>
        </p:txBody>
      </p:sp>
      <p:sp>
        <p:nvSpPr>
          <p:cNvPr id="18" name="Text 16"/>
          <p:cNvSpPr/>
          <p:nvPr/>
        </p:nvSpPr>
        <p:spPr>
          <a:xfrm>
            <a:off x="2889203" y="4556722"/>
            <a:ext cx="317073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So we moved text generation</a:t>
            </a:r>
            <a:endParaRPr lang="en-US" sz="1600" dirty="0"/>
          </a:p>
        </p:txBody>
      </p:sp>
      <p:sp>
        <p:nvSpPr>
          <p:cNvPr id="19" name="Text 17"/>
          <p:cNvSpPr/>
          <p:nvPr/>
        </p:nvSpPr>
        <p:spPr>
          <a:xfrm>
            <a:off x="2889203" y="4876702"/>
            <a:ext cx="3030398" cy="715963"/>
          </a:xfrm>
          <a:prstGeom prst="rect">
            <a:avLst/>
          </a:prstGeom>
          <a:noFill/>
          <a:ln/>
        </p:spPr>
        <p:txBody>
          <a:bodyPr wrap="square" lIns="0" tIns="0" rIns="0" bIns="0" rtlCol="0" anchor="t">
            <a:normAutofit fontScale="85000" lnSpcReduction="10000"/>
          </a:bodyPr>
          <a:lstStyle/>
          <a:p>
            <a:pPr marL="0" indent="0" algn="l">
              <a:lnSpc>
                <a:spcPts val="1813"/>
              </a:lnSpc>
              <a:buNone/>
            </a:pPr>
            <a:r>
              <a:rPr lang="en-US" sz="1250" dirty="0">
                <a:solidFill>
                  <a:srgbClr val="D8EFEC"/>
                </a:solidFill>
                <a:latin typeface="IBM Plex Sans" pitchFamily="34" charset="0"/>
                <a:ea typeface="IBM Plex Sans" pitchFamily="34" charset="-122"/>
                <a:cs typeface="IBM Plex Sans" pitchFamily="34" charset="-120"/>
              </a:rPr>
              <a:t>Gemini 3.6 Flash answers in a few seconds. Moving embeddings would save only 2 seconds but would force a full re-index.</a:t>
            </a:r>
            <a:endParaRPr lang="en-US" sz="1250" dirty="0"/>
          </a:p>
        </p:txBody>
      </p:sp>
      <p:sp>
        <p:nvSpPr>
          <p:cNvPr id="20" name="Shape 18"/>
          <p:cNvSpPr/>
          <p:nvPr/>
        </p:nvSpPr>
        <p:spPr>
          <a:xfrm>
            <a:off x="6240912" y="4331297"/>
            <a:ext cx="3405783" cy="1481931"/>
          </a:xfrm>
          <a:prstGeom prst="roundRect">
            <a:avLst>
              <a:gd name="adj" fmla="val 6642"/>
            </a:avLst>
          </a:prstGeom>
          <a:solidFill>
            <a:srgbClr val="FFFFFF"/>
          </a:solidFill>
          <a:ln w="6350">
            <a:solidFill>
              <a:srgbClr val="DFE4EC"/>
            </a:solidFill>
            <a:prstDash val="solid"/>
          </a:ln>
        </p:spPr>
        <p:txBody>
          <a:bodyPr/>
          <a:lstStyle/>
          <a:p>
            <a:endParaRPr lang="vi-VN"/>
          </a:p>
        </p:txBody>
      </p:sp>
      <p:sp>
        <p:nvSpPr>
          <p:cNvPr id="21" name="Text 19"/>
          <p:cNvSpPr/>
          <p:nvPr/>
        </p:nvSpPr>
        <p:spPr>
          <a:xfrm>
            <a:off x="6472687" y="4563072"/>
            <a:ext cx="3030500" cy="222548"/>
          </a:xfrm>
          <a:prstGeom prst="rect">
            <a:avLst/>
          </a:prstGeom>
          <a:noFill/>
          <a:ln/>
        </p:spPr>
        <p:txBody>
          <a:bodyPr wrap="square" lIns="0" tIns="0" rIns="0" bIns="0" rtlCol="0" anchor="t">
            <a:normAutofit/>
          </a:bodyPr>
          <a:lstStyle/>
          <a:p>
            <a:pPr marL="0" indent="0" algn="l">
              <a:lnSpc>
                <a:spcPts val="1572"/>
              </a:lnSpc>
              <a:buNone/>
            </a:pPr>
            <a:r>
              <a:rPr lang="en-US" sz="1310" b="1" dirty="0">
                <a:solidFill>
                  <a:srgbClr val="13294B"/>
                </a:solidFill>
                <a:latin typeface="IBM Plex Sans" pitchFamily="34" charset="0"/>
                <a:ea typeface="IBM Plex Sans" pitchFamily="34" charset="-122"/>
                <a:cs typeface="IBM Plex Sans" pitchFamily="34" charset="-120"/>
              </a:rPr>
              <a:t>But kept Ollama for evaluation</a:t>
            </a:r>
            <a:endParaRPr lang="en-US" sz="1310" dirty="0"/>
          </a:p>
        </p:txBody>
      </p:sp>
      <p:sp>
        <p:nvSpPr>
          <p:cNvPr id="22" name="Text 20"/>
          <p:cNvSpPr/>
          <p:nvPr/>
        </p:nvSpPr>
        <p:spPr>
          <a:xfrm>
            <a:off x="6472687" y="4836419"/>
            <a:ext cx="3030500" cy="770434"/>
          </a:xfrm>
          <a:prstGeom prst="rect">
            <a:avLst/>
          </a:prstGeom>
          <a:noFill/>
          <a:ln/>
        </p:spPr>
        <p:txBody>
          <a:bodyPr wrap="square" lIns="0" tIns="0" rIns="0" bIns="0" rtlCol="0" anchor="t">
            <a:normAutofit/>
          </a:bodyPr>
          <a:lstStyle/>
          <a:p>
            <a:pPr marL="0" indent="0" algn="l">
              <a:lnSpc>
                <a:spcPts val="1614"/>
              </a:lnSpc>
              <a:buNone/>
            </a:pPr>
            <a:r>
              <a:rPr lang="en-US" sz="1113" dirty="0">
                <a:solidFill>
                  <a:srgbClr val="4A5568"/>
                </a:solidFill>
                <a:latin typeface="IBM Plex Sans" pitchFamily="34" charset="0"/>
                <a:ea typeface="IBM Plex Sans" pitchFamily="34" charset="-122"/>
                <a:cs typeface="IBM Plex Sans" pitchFamily="34" charset="-120"/>
              </a:rPr>
              <a:t>The 25 cases cost 44 model calls; the free quota dies after 15–20. Two keys were tried and both ran out mid-run.</a:t>
            </a:r>
            <a:endParaRPr lang="en-US" sz="1113" dirty="0"/>
          </a:p>
        </p:txBody>
      </p:sp>
      <p:sp>
        <p:nvSpPr>
          <p:cNvPr id="26" name="Text 24"/>
          <p:cNvSpPr/>
          <p:nvPr/>
        </p:nvSpPr>
        <p:spPr>
          <a:xfrm>
            <a:off x="812800" y="6238280"/>
            <a:ext cx="78437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We pin exact model versions — aliases can change the model behind a recorded metric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309"/>
                </a:solidFill>
                <a:latin typeface="IBM Plex Sans" pitchFamily="34" charset="0"/>
                <a:ea typeface="IBM Plex Sans" pitchFamily="34" charset="-122"/>
                <a:cs typeface="IBM Plex Sans" pitchFamily="34" charset="-120"/>
              </a:rPr>
              <a:t>LIMITATIONS</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94B"/>
                </a:solidFill>
                <a:latin typeface="Source Serif 4" pitchFamily="18" charset="0"/>
                <a:ea typeface="Source Serif 4" pitchFamily="18" charset="-122"/>
                <a:cs typeface="Source Serif 4" pitchFamily="18" charset="-120"/>
              </a:rPr>
              <a:t>What is not done yet — stated upfront</a:t>
            </a:r>
            <a:endParaRPr lang="en-US" sz="3600" dirty="0"/>
          </a:p>
        </p:txBody>
      </p:sp>
      <p:sp>
        <p:nvSpPr>
          <p:cNvPr id="4" name="Shape 2"/>
          <p:cNvSpPr/>
          <p:nvPr/>
        </p:nvSpPr>
        <p:spPr>
          <a:xfrm>
            <a:off x="812800" y="1920081"/>
            <a:ext cx="10566400" cy="1308001"/>
          </a:xfrm>
          <a:prstGeom prst="roundRect">
            <a:avLst>
              <a:gd name="adj" fmla="val 7768"/>
            </a:avLst>
          </a:prstGeom>
          <a:solidFill>
            <a:srgbClr val="0F766E"/>
          </a:solidFill>
          <a:ln/>
        </p:spPr>
        <p:txBody>
          <a:bodyPr/>
          <a:lstStyle/>
          <a:p>
            <a:endParaRPr lang="vi-VN"/>
          </a:p>
        </p:txBody>
      </p:sp>
      <p:sp>
        <p:nvSpPr>
          <p:cNvPr id="5" name="Text 3"/>
          <p:cNvSpPr/>
          <p:nvPr/>
        </p:nvSpPr>
        <p:spPr>
          <a:xfrm>
            <a:off x="1092200" y="2148681"/>
            <a:ext cx="1030782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BFBF8"/>
                </a:solidFill>
                <a:latin typeface="IBM Plex Sans" pitchFamily="34" charset="0"/>
                <a:ea typeface="IBM Plex Sans" pitchFamily="34" charset="-122"/>
                <a:cs typeface="IBM Plex Sans" pitchFamily="34" charset="-120"/>
              </a:rPr>
              <a:t>Three AI capabilities are sufficient for our three-person team</a:t>
            </a:r>
            <a:endParaRPr lang="en-US" sz="1700" dirty="0"/>
          </a:p>
        </p:txBody>
      </p:sp>
      <p:sp>
        <p:nvSpPr>
          <p:cNvPr id="6" name="Text 4"/>
          <p:cNvSpPr/>
          <p:nvPr/>
        </p:nvSpPr>
        <p:spPr>
          <a:xfrm>
            <a:off x="1092200" y="2483941"/>
            <a:ext cx="10307828"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D8EFEC"/>
                </a:solidFill>
                <a:latin typeface="IBM Plex Sans" pitchFamily="34" charset="0"/>
                <a:ea typeface="IBM Plex Sans" pitchFamily="34" charset="-122"/>
                <a:cs typeface="IBM Plex Sans" pitchFamily="34" charset="-120"/>
              </a:rPr>
              <a:t>RAG</a:t>
            </a:r>
            <a:r>
              <a:rPr lang="en-US" sz="1400" dirty="0">
                <a:solidFill>
                  <a:srgbClr val="D8EFEC"/>
                </a:solidFill>
                <a:latin typeface="IBM Plex Sans" pitchFamily="34" charset="0"/>
                <a:ea typeface="IBM Plex Sans" pitchFamily="34" charset="-122"/>
                <a:cs typeface="IBM Plex Sans" pitchFamily="34" charset="-120"/>
              </a:rPr>
              <a:t> provides answers with citations · </a:t>
            </a:r>
            <a:r>
              <a:rPr lang="en-US" sz="1400" b="1" dirty="0">
                <a:solidFill>
                  <a:srgbClr val="D8EFEC"/>
                </a:solidFill>
                <a:latin typeface="IBM Plex Sans" pitchFamily="34" charset="0"/>
                <a:ea typeface="IBM Plex Sans" pitchFamily="34" charset="-122"/>
                <a:cs typeface="IBM Plex Sans" pitchFamily="34" charset="-120"/>
              </a:rPr>
              <a:t>Agent</a:t>
            </a:r>
            <a:r>
              <a:rPr lang="en-US" sz="1400" dirty="0">
                <a:solidFill>
                  <a:srgbClr val="D8EFEC"/>
                </a:solidFill>
                <a:latin typeface="IBM Plex Sans" pitchFamily="34" charset="0"/>
                <a:ea typeface="IBM Plex Sans" pitchFamily="34" charset="-122"/>
                <a:cs typeface="IBM Plex Sans" pitchFamily="34" charset="-120"/>
              </a:rPr>
              <a:t> calls three read-only tools for departments, doctors, and availability · </a:t>
            </a:r>
            <a:r>
              <a:rPr lang="en-US" sz="1400" b="1" dirty="0">
                <a:solidFill>
                  <a:srgbClr val="D8EFEC"/>
                </a:solidFill>
                <a:latin typeface="IBM Plex Sans" pitchFamily="34" charset="0"/>
                <a:ea typeface="IBM Plex Sans" pitchFamily="34" charset="-122"/>
                <a:cs typeface="IBM Plex Sans" pitchFamily="34" charset="-120"/>
              </a:rPr>
              <a:t>Structured output</a:t>
            </a:r>
            <a:r>
              <a:rPr lang="en-US" sz="1400" dirty="0">
                <a:solidFill>
                  <a:srgbClr val="D8EFEC"/>
                </a:solidFill>
                <a:latin typeface="IBM Plex Sans" pitchFamily="34" charset="0"/>
                <a:ea typeface="IBM Plex Sans" pitchFamily="34" charset="-122"/>
                <a:cs typeface="IBM Plex Sans" pitchFamily="34" charset="-120"/>
              </a:rPr>
              <a:t> returns urgency, a recommended department, and safety guidance, validated by Pydantic before use.</a:t>
            </a:r>
            <a:endParaRPr lang="en-US" sz="1400" dirty="0"/>
          </a:p>
        </p:txBody>
      </p:sp>
      <p:sp>
        <p:nvSpPr>
          <p:cNvPr id="15" name="Shape 13"/>
          <p:cNvSpPr/>
          <p:nvPr/>
        </p:nvSpPr>
        <p:spPr>
          <a:xfrm>
            <a:off x="812800" y="3584080"/>
            <a:ext cx="5194300" cy="1117600"/>
          </a:xfrm>
          <a:prstGeom prst="roundRect">
            <a:avLst>
              <a:gd name="adj" fmla="val 6818"/>
            </a:avLst>
          </a:prstGeom>
          <a:solidFill>
            <a:srgbClr val="FFFFFF"/>
          </a:solidFill>
          <a:ln/>
        </p:spPr>
        <p:txBody>
          <a:bodyPr/>
          <a:lstStyle/>
          <a:p>
            <a:endParaRPr lang="vi-VN"/>
          </a:p>
        </p:txBody>
      </p:sp>
      <p:sp>
        <p:nvSpPr>
          <p:cNvPr id="16" name="Shape 14"/>
          <p:cNvSpPr/>
          <p:nvPr/>
        </p:nvSpPr>
        <p:spPr>
          <a:xfrm>
            <a:off x="812800" y="3584080"/>
            <a:ext cx="5194300" cy="1117600"/>
          </a:xfrm>
          <a:custGeom>
            <a:avLst/>
            <a:gdLst/>
            <a:ahLst/>
            <a:cxnLst/>
            <a:rect l="l" t="t" r="r" b="b"/>
            <a:pathLst>
              <a:path w="5194300" h="1117600">
                <a:moveTo>
                  <a:pt x="76200" y="1117600"/>
                </a:moveTo>
                <a:lnTo>
                  <a:pt x="76200" y="1117600"/>
                </a:lnTo>
                <a:arcTo wR="76200" hR="76200" stAng="5400000" swAng="5400000"/>
                <a:lnTo>
                  <a:pt x="0" y="76200"/>
                </a:lnTo>
                <a:arcTo wR="76200" hR="76200" stAng="10800000" swAng="5400000"/>
                <a:lnTo>
                  <a:pt x="76200" y="0"/>
                </a:lnTo>
                <a:arcTo wR="38100" hR="76200" stAng="16200000" swAng="-5400000"/>
                <a:lnTo>
                  <a:pt x="38100" y="1041400"/>
                </a:lnTo>
                <a:arcTo wR="38100" hR="76200" stAng="10800000" swAng="-5400000"/>
                <a:close/>
              </a:path>
            </a:pathLst>
          </a:custGeom>
          <a:solidFill>
            <a:srgbClr val="B45309"/>
          </a:solidFill>
          <a:ln/>
        </p:spPr>
        <p:txBody>
          <a:bodyPr/>
          <a:lstStyle/>
          <a:p>
            <a:endParaRPr lang="vi-VN"/>
          </a:p>
        </p:txBody>
      </p:sp>
      <p:sp>
        <p:nvSpPr>
          <p:cNvPr id="17" name="Text 15"/>
          <p:cNvSpPr/>
          <p:nvPr/>
        </p:nvSpPr>
        <p:spPr>
          <a:xfrm>
            <a:off x="1041400" y="3774580"/>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Runs on localhost only</a:t>
            </a:r>
            <a:endParaRPr lang="en-US" sz="1500" dirty="0"/>
          </a:p>
        </p:txBody>
      </p:sp>
      <p:sp>
        <p:nvSpPr>
          <p:cNvPr id="18" name="Text 16"/>
          <p:cNvSpPr/>
          <p:nvPr/>
        </p:nvSpPr>
        <p:spPr>
          <a:xfrm>
            <a:off x="1041400" y="4066680"/>
            <a:ext cx="4918456"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local SQL Server instance, not a container (ADR-0001). The lecturer confirmed localhost is acceptable.</a:t>
            </a:r>
            <a:endParaRPr lang="en-US" sz="1250" dirty="0"/>
          </a:p>
        </p:txBody>
      </p:sp>
      <p:sp>
        <p:nvSpPr>
          <p:cNvPr id="19" name="Shape 17"/>
          <p:cNvSpPr/>
          <p:nvPr/>
        </p:nvSpPr>
        <p:spPr>
          <a:xfrm>
            <a:off x="6184902" y="3584080"/>
            <a:ext cx="5194300" cy="1117600"/>
          </a:xfrm>
          <a:prstGeom prst="roundRect">
            <a:avLst>
              <a:gd name="adj" fmla="val 6818"/>
            </a:avLst>
          </a:prstGeom>
          <a:solidFill>
            <a:srgbClr val="FFFFFF"/>
          </a:solidFill>
          <a:ln/>
        </p:spPr>
        <p:txBody>
          <a:bodyPr/>
          <a:lstStyle/>
          <a:p>
            <a:endParaRPr lang="vi-VN"/>
          </a:p>
        </p:txBody>
      </p:sp>
      <p:sp>
        <p:nvSpPr>
          <p:cNvPr id="20" name="Shape 18"/>
          <p:cNvSpPr/>
          <p:nvPr/>
        </p:nvSpPr>
        <p:spPr>
          <a:xfrm>
            <a:off x="6184902" y="3584080"/>
            <a:ext cx="5194300" cy="1117600"/>
          </a:xfrm>
          <a:custGeom>
            <a:avLst/>
            <a:gdLst/>
            <a:ahLst/>
            <a:cxnLst/>
            <a:rect l="l" t="t" r="r" b="b"/>
            <a:pathLst>
              <a:path w="5194300" h="1117600">
                <a:moveTo>
                  <a:pt x="76200" y="1117600"/>
                </a:moveTo>
                <a:lnTo>
                  <a:pt x="76200" y="1117600"/>
                </a:lnTo>
                <a:arcTo wR="76200" hR="76200" stAng="5400000" swAng="5400000"/>
                <a:lnTo>
                  <a:pt x="0" y="76200"/>
                </a:lnTo>
                <a:arcTo wR="76200" hR="76200" stAng="10800000" swAng="5400000"/>
                <a:lnTo>
                  <a:pt x="76200" y="0"/>
                </a:lnTo>
                <a:arcTo wR="38100" hR="76200" stAng="16200000" swAng="-5400000"/>
                <a:lnTo>
                  <a:pt x="38100" y="1041400"/>
                </a:lnTo>
                <a:arcTo wR="38100" hR="76200" stAng="10800000" swAng="-5400000"/>
                <a:close/>
              </a:path>
            </a:pathLst>
          </a:custGeom>
          <a:solidFill>
            <a:srgbClr val="B45309"/>
          </a:solidFill>
          <a:ln/>
        </p:spPr>
        <p:txBody>
          <a:bodyPr/>
          <a:lstStyle/>
          <a:p>
            <a:endParaRPr lang="vi-VN"/>
          </a:p>
        </p:txBody>
      </p:sp>
      <p:sp>
        <p:nvSpPr>
          <p:cNvPr id="21" name="Text 19"/>
          <p:cNvSpPr/>
          <p:nvPr/>
        </p:nvSpPr>
        <p:spPr>
          <a:xfrm>
            <a:off x="6413502" y="3774580"/>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94B"/>
                </a:solidFill>
                <a:latin typeface="IBM Plex Sans" pitchFamily="34" charset="0"/>
                <a:ea typeface="IBM Plex Sans" pitchFamily="34" charset="-122"/>
                <a:cs typeface="IBM Plex Sans" pitchFamily="34" charset="-120"/>
              </a:rPr>
              <a:t>Retrieval is weakest where it matters most</a:t>
            </a:r>
            <a:endParaRPr lang="en-US" sz="1500" dirty="0"/>
          </a:p>
        </p:txBody>
      </p:sp>
      <p:sp>
        <p:nvSpPr>
          <p:cNvPr id="22" name="Text 20"/>
          <p:cNvSpPr/>
          <p:nvPr/>
        </p:nvSpPr>
        <p:spPr>
          <a:xfrm>
            <a:off x="6413502" y="4066680"/>
            <a:ext cx="4918456"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Recall@1 is 94% on factual questions but 57% on patient-voice ones — which is how a real patient actually asks.</a:t>
            </a:r>
            <a:endParaRPr lang="en-US" sz="1250" dirty="0"/>
          </a:p>
        </p:txBody>
      </p:sp>
      <p:sp>
        <p:nvSpPr>
          <p:cNvPr id="23" name="Text 21"/>
          <p:cNvSpPr/>
          <p:nvPr/>
        </p:nvSpPr>
        <p:spPr>
          <a:xfrm>
            <a:off x="812800" y="6238280"/>
            <a:ext cx="69701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Lowest-cost next step: re-enable Flyway and convert the five scripts into numbered migrations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13294B"/>
        </a:solidFill>
        <a:effectLst/>
      </p:bgPr>
    </p:bg>
    <p:spTree>
      <p:nvGrpSpPr>
        <p:cNvPr id="1" name=""/>
        <p:cNvGrpSpPr/>
        <p:nvPr/>
      </p:nvGrpSpPr>
      <p:grpSpPr>
        <a:xfrm>
          <a:off x="0" y="0"/>
          <a:ext cx="0" cy="0"/>
          <a:chOff x="0" y="0"/>
          <a:chExt cx="0" cy="0"/>
        </a:xfrm>
      </p:grpSpPr>
      <p:sp>
        <p:nvSpPr>
          <p:cNvPr id="2" name="Text 0"/>
          <p:cNvSpPr/>
          <p:nvPr/>
        </p:nvSpPr>
        <p:spPr>
          <a:xfrm>
            <a:off x="812800" y="115282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FB3AE"/>
                </a:solidFill>
                <a:latin typeface="IBM Plex Sans" pitchFamily="34" charset="0"/>
                <a:ea typeface="IBM Plex Sans" pitchFamily="34" charset="-122"/>
                <a:cs typeface="IBM Plex Sans" pitchFamily="34" charset="-120"/>
              </a:rPr>
              <a:t>DEMO</a:t>
            </a:r>
            <a:endParaRPr lang="en-US" sz="1400" dirty="0"/>
          </a:p>
        </p:txBody>
      </p:sp>
      <p:sp>
        <p:nvSpPr>
          <p:cNvPr id="3" name="Text 1"/>
          <p:cNvSpPr>
            <a:spLocks noGrp="1"/>
          </p:cNvSpPr>
          <p:nvPr>
            <p:ph type="title"/>
          </p:nvPr>
        </p:nvSpPr>
        <p:spPr>
          <a:xfrm>
            <a:off x="812800" y="1503263"/>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FBFBF8"/>
                </a:solidFill>
                <a:latin typeface="Source Serif 4" pitchFamily="18" charset="0"/>
                <a:ea typeface="Source Serif 4" pitchFamily="18" charset="-122"/>
                <a:cs typeface="Source Serif 4" pitchFamily="18" charset="-120"/>
              </a:rPr>
              <a:t>Four actions we will demonstrate</a:t>
            </a:r>
            <a:endParaRPr lang="en-US" sz="3800" dirty="0"/>
          </a:p>
        </p:txBody>
      </p:sp>
      <p:sp>
        <p:nvSpPr>
          <p:cNvPr id="4" name="Shape 2"/>
          <p:cNvSpPr/>
          <p:nvPr/>
        </p:nvSpPr>
        <p:spPr>
          <a:xfrm>
            <a:off x="812800" y="2389684"/>
            <a:ext cx="2508250" cy="2130623"/>
          </a:xfrm>
          <a:prstGeom prst="roundRect">
            <a:avLst>
              <a:gd name="adj" fmla="val 4769"/>
            </a:avLst>
          </a:prstGeom>
          <a:solidFill>
            <a:srgbClr val="1C3A66"/>
          </a:solidFill>
          <a:ln/>
        </p:spPr>
        <p:txBody>
          <a:bodyPr/>
          <a:lstStyle/>
          <a:p>
            <a:endParaRPr lang="vi-VN"/>
          </a:p>
        </p:txBody>
      </p:sp>
      <p:sp>
        <p:nvSpPr>
          <p:cNvPr id="5" name="Text 3"/>
          <p:cNvSpPr/>
          <p:nvPr/>
        </p:nvSpPr>
        <p:spPr>
          <a:xfrm>
            <a:off x="1066800" y="2643684"/>
            <a:ext cx="20602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B3AE"/>
                </a:solidFill>
                <a:latin typeface="IBM Plex Sans" pitchFamily="34" charset="0"/>
                <a:ea typeface="IBM Plex Sans" pitchFamily="34" charset="-122"/>
                <a:cs typeface="IBM Plex Sans" pitchFamily="34" charset="-120"/>
              </a:rPr>
              <a:t>01</a:t>
            </a:r>
            <a:endParaRPr lang="en-US" sz="1500" dirty="0"/>
          </a:p>
        </p:txBody>
      </p:sp>
      <p:sp>
        <p:nvSpPr>
          <p:cNvPr id="6" name="Text 4"/>
          <p:cNvSpPr/>
          <p:nvPr/>
        </p:nvSpPr>
        <p:spPr>
          <a:xfrm>
            <a:off x="1066800" y="2999284"/>
            <a:ext cx="206025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Book an appointment</a:t>
            </a:r>
            <a:endParaRPr lang="en-US" sz="1600" dirty="0"/>
          </a:p>
        </p:txBody>
      </p:sp>
      <p:sp>
        <p:nvSpPr>
          <p:cNvPr id="7" name="Text 5"/>
          <p:cNvSpPr/>
          <p:nvPr/>
        </p:nvSpPr>
        <p:spPr>
          <a:xfrm>
            <a:off x="1066800" y="3331964"/>
            <a:ext cx="2060257"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C8D4E4"/>
                </a:solidFill>
                <a:latin typeface="IBM Plex Sans" pitchFamily="34" charset="0"/>
                <a:ea typeface="IBM Plex Sans" pitchFamily="34" charset="-122"/>
                <a:cs typeface="IBM Plex Sans" pitchFamily="34" charset="-120"/>
              </a:rPr>
              <a:t>Choose a doctor and an actually available slot, then receive a booking ID</a:t>
            </a:r>
            <a:endParaRPr lang="en-US" sz="1250" dirty="0"/>
          </a:p>
        </p:txBody>
      </p:sp>
      <p:sp>
        <p:nvSpPr>
          <p:cNvPr id="8" name="Shape 6"/>
          <p:cNvSpPr/>
          <p:nvPr/>
        </p:nvSpPr>
        <p:spPr>
          <a:xfrm>
            <a:off x="3498850" y="2389684"/>
            <a:ext cx="2508250" cy="2130623"/>
          </a:xfrm>
          <a:prstGeom prst="roundRect">
            <a:avLst>
              <a:gd name="adj" fmla="val 4769"/>
            </a:avLst>
          </a:prstGeom>
          <a:solidFill>
            <a:srgbClr val="1C3A66"/>
          </a:solidFill>
          <a:ln/>
        </p:spPr>
        <p:txBody>
          <a:bodyPr/>
          <a:lstStyle/>
          <a:p>
            <a:endParaRPr lang="vi-VN"/>
          </a:p>
        </p:txBody>
      </p:sp>
      <p:sp>
        <p:nvSpPr>
          <p:cNvPr id="9" name="Text 7"/>
          <p:cNvSpPr/>
          <p:nvPr/>
        </p:nvSpPr>
        <p:spPr>
          <a:xfrm>
            <a:off x="3752850" y="2643684"/>
            <a:ext cx="20602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B3AE"/>
                </a:solidFill>
                <a:latin typeface="IBM Plex Sans" pitchFamily="34" charset="0"/>
                <a:ea typeface="IBM Plex Sans" pitchFamily="34" charset="-122"/>
                <a:cs typeface="IBM Plex Sans" pitchFamily="34" charset="-120"/>
              </a:rPr>
              <a:t>02</a:t>
            </a:r>
            <a:endParaRPr lang="en-US" sz="1500" dirty="0"/>
          </a:p>
        </p:txBody>
      </p:sp>
      <p:sp>
        <p:nvSpPr>
          <p:cNvPr id="10" name="Text 8"/>
          <p:cNvSpPr/>
          <p:nvPr/>
        </p:nvSpPr>
        <p:spPr>
          <a:xfrm>
            <a:off x="3752850" y="2999284"/>
            <a:ext cx="2060257"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Ask a question with an answer</a:t>
            </a:r>
            <a:endParaRPr lang="en-US" sz="1600" dirty="0"/>
          </a:p>
        </p:txBody>
      </p:sp>
      <p:sp>
        <p:nvSpPr>
          <p:cNvPr id="11" name="Text 9"/>
          <p:cNvSpPr/>
          <p:nvPr/>
        </p:nvSpPr>
        <p:spPr>
          <a:xfrm>
            <a:off x="3752850" y="3575745"/>
            <a:ext cx="2060257" cy="715963"/>
          </a:xfrm>
          <a:prstGeom prst="rect">
            <a:avLst/>
          </a:prstGeom>
          <a:noFill/>
          <a:ln/>
        </p:spPr>
        <p:txBody>
          <a:bodyPr wrap="square" lIns="0" tIns="0" rIns="0" bIns="0" rtlCol="0" anchor="t">
            <a:normAutofit fontScale="85000" lnSpcReduction="10000"/>
          </a:bodyPr>
          <a:lstStyle/>
          <a:p>
            <a:pPr marL="0" indent="0" algn="l">
              <a:lnSpc>
                <a:spcPts val="1813"/>
              </a:lnSpc>
              <a:buNone/>
            </a:pPr>
            <a:r>
              <a:rPr lang="en-US" sz="1250" dirty="0">
                <a:solidFill>
                  <a:srgbClr val="C8D4E4"/>
                </a:solidFill>
                <a:latin typeface="IBM Plex Sans" pitchFamily="34" charset="0"/>
                <a:ea typeface="IBM Plex Sans" pitchFamily="34" charset="-122"/>
                <a:cs typeface="IBM Plex Sans" pitchFamily="34" charset="-120"/>
              </a:rPr>
              <a:t>Citations appear first, the answer streams in, and the correct handout section is cited</a:t>
            </a:r>
            <a:endParaRPr lang="en-US" sz="1250" dirty="0"/>
          </a:p>
        </p:txBody>
      </p:sp>
      <p:sp>
        <p:nvSpPr>
          <p:cNvPr id="12" name="Shape 10"/>
          <p:cNvSpPr/>
          <p:nvPr/>
        </p:nvSpPr>
        <p:spPr>
          <a:xfrm>
            <a:off x="6184900" y="2389684"/>
            <a:ext cx="2508250" cy="2130623"/>
          </a:xfrm>
          <a:prstGeom prst="roundRect">
            <a:avLst>
              <a:gd name="adj" fmla="val 4769"/>
            </a:avLst>
          </a:prstGeom>
          <a:solidFill>
            <a:srgbClr val="0F766E"/>
          </a:solidFill>
          <a:ln/>
        </p:spPr>
        <p:txBody>
          <a:bodyPr/>
          <a:lstStyle/>
          <a:p>
            <a:endParaRPr lang="vi-VN"/>
          </a:p>
        </p:txBody>
      </p:sp>
      <p:sp>
        <p:nvSpPr>
          <p:cNvPr id="13" name="Text 11"/>
          <p:cNvSpPr/>
          <p:nvPr/>
        </p:nvSpPr>
        <p:spPr>
          <a:xfrm>
            <a:off x="6438900" y="2643684"/>
            <a:ext cx="20602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FE3DE"/>
                </a:solidFill>
                <a:latin typeface="IBM Plex Sans" pitchFamily="34" charset="0"/>
                <a:ea typeface="IBM Plex Sans" pitchFamily="34" charset="-122"/>
                <a:cs typeface="IBM Plex Sans" pitchFamily="34" charset="-120"/>
              </a:rPr>
              <a:t>03</a:t>
            </a:r>
            <a:endParaRPr lang="en-US" sz="1500" dirty="0"/>
          </a:p>
        </p:txBody>
      </p:sp>
      <p:sp>
        <p:nvSpPr>
          <p:cNvPr id="14" name="Text 12"/>
          <p:cNvSpPr/>
          <p:nvPr/>
        </p:nvSpPr>
        <p:spPr>
          <a:xfrm>
            <a:off x="6438900" y="2999284"/>
            <a:ext cx="2060257"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Ask an out-of-scope question</a:t>
            </a:r>
            <a:endParaRPr lang="en-US" sz="1600" dirty="0"/>
          </a:p>
        </p:txBody>
      </p:sp>
      <p:sp>
        <p:nvSpPr>
          <p:cNvPr id="15" name="Text 13"/>
          <p:cNvSpPr/>
          <p:nvPr/>
        </p:nvSpPr>
        <p:spPr>
          <a:xfrm>
            <a:off x="6438900" y="3575745"/>
            <a:ext cx="2060257"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D8EFEC"/>
                </a:solidFill>
                <a:latin typeface="IBM Plex Sans" pitchFamily="34" charset="0"/>
                <a:ea typeface="IBM Plex Sans" pitchFamily="34" charset="-122"/>
                <a:cs typeface="IBM Plex Sans" pitchFamily="34" charset="-120"/>
              </a:rPr>
              <a:t>The assistant says it does not know rather than inventing a plausible answer</a:t>
            </a:r>
            <a:endParaRPr lang="en-US" sz="1250" dirty="0"/>
          </a:p>
        </p:txBody>
      </p:sp>
      <p:sp>
        <p:nvSpPr>
          <p:cNvPr id="16" name="Shape 14"/>
          <p:cNvSpPr/>
          <p:nvPr/>
        </p:nvSpPr>
        <p:spPr>
          <a:xfrm>
            <a:off x="8870950" y="2389684"/>
            <a:ext cx="2508250" cy="2130623"/>
          </a:xfrm>
          <a:prstGeom prst="roundRect">
            <a:avLst>
              <a:gd name="adj" fmla="val 4769"/>
            </a:avLst>
          </a:prstGeom>
          <a:solidFill>
            <a:srgbClr val="1C3A66"/>
          </a:solidFill>
          <a:ln/>
        </p:spPr>
        <p:txBody>
          <a:bodyPr/>
          <a:lstStyle/>
          <a:p>
            <a:endParaRPr lang="vi-VN"/>
          </a:p>
        </p:txBody>
      </p:sp>
      <p:sp>
        <p:nvSpPr>
          <p:cNvPr id="17" name="Text 15"/>
          <p:cNvSpPr/>
          <p:nvPr/>
        </p:nvSpPr>
        <p:spPr>
          <a:xfrm>
            <a:off x="9124950" y="2643684"/>
            <a:ext cx="20602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7FB3AE"/>
                </a:solidFill>
                <a:latin typeface="IBM Plex Sans" pitchFamily="34" charset="0"/>
                <a:ea typeface="IBM Plex Sans" pitchFamily="34" charset="-122"/>
                <a:cs typeface="IBM Plex Sans" pitchFamily="34" charset="-120"/>
              </a:rPr>
              <a:t>04</a:t>
            </a:r>
            <a:endParaRPr lang="en-US" sz="1500" dirty="0"/>
          </a:p>
        </p:txBody>
      </p:sp>
      <p:sp>
        <p:nvSpPr>
          <p:cNvPr id="18" name="Text 16"/>
          <p:cNvSpPr/>
          <p:nvPr/>
        </p:nvSpPr>
        <p:spPr>
          <a:xfrm>
            <a:off x="9124950" y="2999284"/>
            <a:ext cx="206025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Approve a doctor</a:t>
            </a:r>
            <a:endParaRPr lang="en-US" sz="1600" dirty="0"/>
          </a:p>
        </p:txBody>
      </p:sp>
      <p:sp>
        <p:nvSpPr>
          <p:cNvPr id="19" name="Text 17"/>
          <p:cNvSpPr/>
          <p:nvPr/>
        </p:nvSpPr>
        <p:spPr>
          <a:xfrm>
            <a:off x="9124950" y="3331964"/>
            <a:ext cx="2060257"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C8D4E4"/>
                </a:solidFill>
                <a:latin typeface="IBM Plex Sans" pitchFamily="34" charset="0"/>
                <a:ea typeface="IBM Plex Sans" pitchFamily="34" charset="-122"/>
                <a:cs typeface="IBM Plex Sans" pitchFamily="34" charset="-120"/>
              </a:rPr>
              <a:t>Turn a pending application into a doctor account with an ID and scheduled shifts</a:t>
            </a:r>
            <a:endParaRPr lang="en-US" sz="1250" dirty="0"/>
          </a:p>
        </p:txBody>
      </p:sp>
      <p:sp>
        <p:nvSpPr>
          <p:cNvPr id="20" name="Text 18"/>
          <p:cNvSpPr/>
          <p:nvPr/>
        </p:nvSpPr>
        <p:spPr>
          <a:xfrm>
            <a:off x="812800" y="4875907"/>
            <a:ext cx="1020318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C8D4E4"/>
                </a:solidFill>
                <a:latin typeface="IBM Plex Sans" pitchFamily="34" charset="0"/>
                <a:ea typeface="IBM Plex Sans" pitchFamily="34" charset="-122"/>
                <a:cs typeface="IBM Plex Sans" pitchFamily="34" charset="-120"/>
              </a:rPr>
              <a:t>The key moment is step </a:t>
            </a:r>
            <a:r>
              <a:rPr lang="en-US" sz="1700" b="1" dirty="0">
                <a:solidFill>
                  <a:srgbClr val="C8D4E4"/>
                </a:solidFill>
                <a:latin typeface="IBM Plex Sans" pitchFamily="34" charset="0"/>
                <a:ea typeface="IBM Plex Sans" pitchFamily="34" charset="-122"/>
                <a:cs typeface="IBM Plex Sans" pitchFamily="34" charset="-120"/>
              </a:rPr>
              <a:t>03</a:t>
            </a:r>
            <a:r>
              <a:rPr lang="en-US" sz="1700" dirty="0">
                <a:solidFill>
                  <a:srgbClr val="C8D4E4"/>
                </a:solidFill>
                <a:latin typeface="IBM Plex Sans" pitchFamily="34" charset="0"/>
                <a:ea typeface="IBM Plex Sans" pitchFamily="34" charset="-122"/>
                <a:cs typeface="IBM Plex Sans" pitchFamily="34" charset="-120"/>
              </a:rPr>
              <a:t>: a medical assistant willing to say “I don’t know” is more trustworthy than one that always has an answer.</a:t>
            </a:r>
            <a:endParaRPr lang="en-US" sz="1700" dirty="0"/>
          </a:p>
        </p:txBody>
      </p:sp>
      <p:sp>
        <p:nvSpPr>
          <p:cNvPr id="21" name="Text 19"/>
          <p:cNvSpPr/>
          <p:nvPr/>
        </p:nvSpPr>
        <p:spPr>
          <a:xfrm>
            <a:off x="812800" y="6238280"/>
            <a:ext cx="30115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89B0"/>
                </a:solidFill>
                <a:latin typeface="IBM Plex Sans" pitchFamily="34" charset="0"/>
                <a:ea typeface="IBM Plex Sans" pitchFamily="34" charset="-122"/>
                <a:cs typeface="IBM Plex Sans" pitchFamily="34" charset="-120"/>
              </a:rPr>
              <a:t>Thank you for your attention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9316"/>
          </a:xfrm>
          <a:prstGeom prst="rect">
            <a:avLst/>
          </a:prstGeom>
          <a:noFill/>
          <a:ln/>
        </p:spPr>
        <p:txBody>
          <a:bodyPr wrap="square" lIns="0" tIns="0" rIns="0" bIns="0" rtlCol="0" anchor="t">
            <a:normAutofit/>
          </a:bodyPr>
          <a:lstStyle/>
          <a:p>
            <a:pPr marL="0" indent="0" algn="l">
              <a:lnSpc>
                <a:spcPts val="1721"/>
              </a:lnSpc>
              <a:buNone/>
            </a:pPr>
            <a:r>
              <a:rPr lang="en-US" sz="1229" kern="0" spc="100" dirty="0">
                <a:solidFill>
                  <a:srgbClr val="0F766E"/>
                </a:solidFill>
                <a:latin typeface="IBM Plex Sans" pitchFamily="34" charset="0"/>
                <a:ea typeface="IBM Plex Sans" pitchFamily="34" charset="-122"/>
                <a:cs typeface="IBM Plex Sans" pitchFamily="34" charset="-120"/>
              </a:rPr>
              <a:t>EVALUATION · 25 LIVE CASES</a:t>
            </a:r>
            <a:endParaRPr lang="en-US" sz="1229" dirty="0"/>
          </a:p>
        </p:txBody>
      </p:sp>
      <p:sp>
        <p:nvSpPr>
          <p:cNvPr id="3" name="Text 1"/>
          <p:cNvSpPr>
            <a:spLocks noGrp="1"/>
          </p:cNvSpPr>
          <p:nvPr>
            <p:ph type="title"/>
          </p:nvPr>
        </p:nvSpPr>
        <p:spPr>
          <a:xfrm>
            <a:off x="812800" y="1128316"/>
            <a:ext cx="10072370" cy="889794"/>
          </a:xfrm>
          <a:prstGeom prst="rect">
            <a:avLst/>
          </a:prstGeom>
          <a:noFill/>
          <a:ln/>
        </p:spPr>
        <p:txBody>
          <a:bodyPr wrap="square" lIns="0" tIns="0" rIns="0" bIns="0" rtlCol="0" anchor="t">
            <a:normAutofit/>
          </a:bodyPr>
          <a:lstStyle/>
          <a:p>
            <a:pPr marL="0" indent="0" algn="l">
              <a:lnSpc>
                <a:spcPts val="3403"/>
              </a:lnSpc>
              <a:buNone/>
            </a:pPr>
            <a:r>
              <a:rPr lang="en-US" sz="3094" b="1" i="0" dirty="0">
                <a:solidFill>
                  <a:srgbClr val="13294B"/>
                </a:solidFill>
                <a:latin typeface="Source Serif 4" pitchFamily="18" charset="0"/>
                <a:ea typeface="Source Serif 4" pitchFamily="18" charset="-122"/>
                <a:cs typeface="Source Serif 4" pitchFamily="18" charset="-120"/>
              </a:rPr>
              <a:t>The pass rate found a real defect — and a rerun kept us honest</a:t>
            </a:r>
            <a:endParaRPr lang="en-US" sz="3094" dirty="0"/>
          </a:p>
        </p:txBody>
      </p:sp>
      <p:sp>
        <p:nvSpPr>
          <p:cNvPr id="4" name="Text 2"/>
          <p:cNvSpPr/>
          <p:nvPr/>
        </p:nvSpPr>
        <p:spPr>
          <a:xfrm>
            <a:off x="812800" y="2297509"/>
            <a:ext cx="10883392" cy="240407"/>
          </a:xfrm>
          <a:prstGeom prst="rect">
            <a:avLst/>
          </a:prstGeom>
          <a:noFill/>
          <a:ln/>
        </p:spPr>
        <p:txBody>
          <a:bodyPr wrap="square" lIns="0" tIns="0" rIns="0" bIns="0" rtlCol="0" anchor="t">
            <a:normAutofit/>
          </a:bodyPr>
          <a:lstStyle/>
          <a:p>
            <a:pPr marL="0" indent="0" algn="l">
              <a:lnSpc>
                <a:spcPts val="1721"/>
              </a:lnSpc>
              <a:buNone/>
            </a:pPr>
            <a:r>
              <a:rPr lang="en-US" sz="1229" dirty="0">
                <a:solidFill>
                  <a:srgbClr val="4A5568"/>
                </a:solidFill>
                <a:latin typeface="IBM Plex Sans" pitchFamily="34" charset="0"/>
                <a:ea typeface="IBM Plex Sans" pitchFamily="34" charset="-122"/>
                <a:cs typeface="IBM Plex Sans" pitchFamily="34" charset="-120"/>
              </a:rPr>
              <a:t>Same 25 cases, same model, one sentence of the prompt changed</a:t>
            </a:r>
            <a:endParaRPr lang="en-US" sz="1229" dirty="0"/>
          </a:p>
        </p:txBody>
      </p:sp>
      <p:sp>
        <p:nvSpPr>
          <p:cNvPr id="5" name="Shape 3"/>
          <p:cNvSpPr/>
          <p:nvPr/>
        </p:nvSpPr>
        <p:spPr>
          <a:xfrm>
            <a:off x="815975" y="2604591"/>
            <a:ext cx="1898650" cy="1441152"/>
          </a:xfrm>
          <a:prstGeom prst="roundRect">
            <a:avLst>
              <a:gd name="adj" fmla="val 6830"/>
            </a:avLst>
          </a:prstGeom>
          <a:solidFill>
            <a:srgbClr val="FFFFFF"/>
          </a:solidFill>
          <a:ln w="6350">
            <a:solidFill>
              <a:srgbClr val="DFE4EC"/>
            </a:solidFill>
            <a:prstDash val="solid"/>
          </a:ln>
        </p:spPr>
        <p:txBody>
          <a:bodyPr/>
          <a:lstStyle/>
          <a:p>
            <a:endParaRPr lang="vi-VN"/>
          </a:p>
        </p:txBody>
      </p:sp>
      <p:sp>
        <p:nvSpPr>
          <p:cNvPr id="6" name="Text 4"/>
          <p:cNvSpPr/>
          <p:nvPr/>
        </p:nvSpPr>
        <p:spPr>
          <a:xfrm>
            <a:off x="1022350" y="2810966"/>
            <a:ext cx="1536700" cy="24636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Prompt v1</a:t>
            </a:r>
            <a:endParaRPr lang="en-US" sz="1250" dirty="0"/>
          </a:p>
        </p:txBody>
      </p:sp>
      <p:sp>
        <p:nvSpPr>
          <p:cNvPr id="7" name="Text 5"/>
          <p:cNvSpPr/>
          <p:nvPr/>
        </p:nvSpPr>
        <p:spPr>
          <a:xfrm>
            <a:off x="1022350" y="3095427"/>
            <a:ext cx="1536700" cy="484882"/>
          </a:xfrm>
          <a:prstGeom prst="rect">
            <a:avLst/>
          </a:prstGeom>
          <a:noFill/>
          <a:ln/>
        </p:spPr>
        <p:txBody>
          <a:bodyPr wrap="square" lIns="0" tIns="0" rIns="0" bIns="0" rtlCol="0" anchor="t">
            <a:normAutofit/>
          </a:bodyPr>
          <a:lstStyle/>
          <a:p>
            <a:pPr marL="0" indent="0" algn="l">
              <a:lnSpc>
                <a:spcPts val="3617"/>
              </a:lnSpc>
              <a:buNone/>
            </a:pPr>
            <a:r>
              <a:rPr lang="en-US" sz="2584" b="1" dirty="0">
                <a:solidFill>
                  <a:srgbClr val="13294B"/>
                </a:solidFill>
                <a:latin typeface="IBM Plex Sans" pitchFamily="34" charset="0"/>
                <a:ea typeface="IBM Plex Sans" pitchFamily="34" charset="-122"/>
                <a:cs typeface="IBM Plex Sans" pitchFamily="34" charset="-120"/>
              </a:rPr>
              <a:t>19/25</a:t>
            </a:r>
            <a:endParaRPr lang="en-US" sz="2584" dirty="0"/>
          </a:p>
        </p:txBody>
      </p:sp>
      <p:sp>
        <p:nvSpPr>
          <p:cNvPr id="8" name="Text 6"/>
          <p:cNvSpPr/>
          <p:nvPr/>
        </p:nvSpPr>
        <p:spPr>
          <a:xfrm>
            <a:off x="1022350" y="3618409"/>
            <a:ext cx="1536700" cy="24636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8A94A6"/>
                </a:solidFill>
                <a:latin typeface="IBM Plex Sans" pitchFamily="34" charset="0"/>
                <a:ea typeface="IBM Plex Sans" pitchFamily="34" charset="-122"/>
                <a:cs typeface="IBM Plex Sans" pitchFamily="34" charset="-120"/>
              </a:rPr>
              <a:t>76%</a:t>
            </a:r>
            <a:endParaRPr lang="en-US" sz="1250" dirty="0"/>
          </a:p>
        </p:txBody>
      </p:sp>
      <p:sp>
        <p:nvSpPr>
          <p:cNvPr id="9" name="Shape 7"/>
          <p:cNvSpPr/>
          <p:nvPr/>
        </p:nvSpPr>
        <p:spPr>
          <a:xfrm>
            <a:off x="2847975" y="2604591"/>
            <a:ext cx="1898650" cy="1441152"/>
          </a:xfrm>
          <a:prstGeom prst="roundRect">
            <a:avLst>
              <a:gd name="adj" fmla="val 6830"/>
            </a:avLst>
          </a:prstGeom>
          <a:solidFill>
            <a:srgbClr val="FFFFFF"/>
          </a:solidFill>
          <a:ln w="6350">
            <a:solidFill>
              <a:srgbClr val="DFE4EC"/>
            </a:solidFill>
            <a:prstDash val="solid"/>
          </a:ln>
        </p:spPr>
        <p:txBody>
          <a:bodyPr/>
          <a:lstStyle/>
          <a:p>
            <a:endParaRPr lang="vi-VN"/>
          </a:p>
        </p:txBody>
      </p:sp>
      <p:sp>
        <p:nvSpPr>
          <p:cNvPr id="10" name="Text 8"/>
          <p:cNvSpPr/>
          <p:nvPr/>
        </p:nvSpPr>
        <p:spPr>
          <a:xfrm>
            <a:off x="3054350" y="2810966"/>
            <a:ext cx="1689100" cy="380305"/>
          </a:xfrm>
          <a:prstGeom prst="rect">
            <a:avLst/>
          </a:prstGeom>
          <a:noFill/>
          <a:ln/>
        </p:spPr>
        <p:txBody>
          <a:bodyPr wrap="square" lIns="0" tIns="0" rIns="0" bIns="0" rtlCol="0" anchor="t">
            <a:normAutofit/>
          </a:bodyPr>
          <a:lstStyle/>
          <a:p>
            <a:pPr marL="0" indent="0" algn="l">
              <a:lnSpc>
                <a:spcPts val="1745"/>
              </a:lnSpc>
              <a:buNone/>
            </a:pPr>
            <a:r>
              <a:rPr lang="en-US" sz="1246" dirty="0">
                <a:solidFill>
                  <a:srgbClr val="4A5568"/>
                </a:solidFill>
                <a:latin typeface="IBM Plex Sans" pitchFamily="34" charset="0"/>
                <a:ea typeface="IBM Plex Sans" pitchFamily="34" charset="-122"/>
                <a:cs typeface="IBM Plex Sans" pitchFamily="34" charset="-120"/>
              </a:rPr>
              <a:t>Prompt v2</a:t>
            </a:r>
            <a:endParaRPr lang="en-US" sz="1246" dirty="0"/>
          </a:p>
        </p:txBody>
      </p:sp>
      <p:sp>
        <p:nvSpPr>
          <p:cNvPr id="11" name="Text 9"/>
          <p:cNvSpPr/>
          <p:nvPr/>
        </p:nvSpPr>
        <p:spPr>
          <a:xfrm>
            <a:off x="3054350" y="3229372"/>
            <a:ext cx="1536700" cy="394494"/>
          </a:xfrm>
          <a:prstGeom prst="rect">
            <a:avLst/>
          </a:prstGeom>
          <a:noFill/>
          <a:ln/>
        </p:spPr>
        <p:txBody>
          <a:bodyPr wrap="square" lIns="0" tIns="0" rIns="0" bIns="0" rtlCol="0" anchor="t">
            <a:normAutofit/>
          </a:bodyPr>
          <a:lstStyle/>
          <a:p>
            <a:pPr marL="0" indent="0" algn="l">
              <a:lnSpc>
                <a:spcPts val="2923"/>
              </a:lnSpc>
              <a:buNone/>
            </a:pPr>
            <a:r>
              <a:rPr lang="en-US" sz="2088" b="1" dirty="0">
                <a:solidFill>
                  <a:srgbClr val="13294B"/>
                </a:solidFill>
                <a:latin typeface="IBM Plex Sans" pitchFamily="34" charset="0"/>
                <a:ea typeface="IBM Plex Sans" pitchFamily="34" charset="-122"/>
                <a:cs typeface="IBM Plex Sans" pitchFamily="34" charset="-120"/>
              </a:rPr>
              <a:t>25/25</a:t>
            </a:r>
            <a:endParaRPr lang="en-US" sz="2088" dirty="0"/>
          </a:p>
        </p:txBody>
      </p:sp>
      <p:sp>
        <p:nvSpPr>
          <p:cNvPr id="12" name="Text 10"/>
          <p:cNvSpPr/>
          <p:nvPr/>
        </p:nvSpPr>
        <p:spPr>
          <a:xfrm>
            <a:off x="3054350" y="3661966"/>
            <a:ext cx="1536700" cy="202803"/>
          </a:xfrm>
          <a:prstGeom prst="rect">
            <a:avLst/>
          </a:prstGeom>
          <a:noFill/>
          <a:ln/>
        </p:spPr>
        <p:txBody>
          <a:bodyPr wrap="square" lIns="0" tIns="0" rIns="0" bIns="0" rtlCol="0" anchor="t">
            <a:normAutofit/>
          </a:bodyPr>
          <a:lstStyle/>
          <a:p>
            <a:pPr marL="0" indent="0" algn="l">
              <a:lnSpc>
                <a:spcPts val="1422"/>
              </a:lnSpc>
              <a:buNone/>
            </a:pPr>
            <a:r>
              <a:rPr lang="en-US" sz="1016" dirty="0">
                <a:solidFill>
                  <a:srgbClr val="8A94A6"/>
                </a:solidFill>
                <a:latin typeface="IBM Plex Sans" pitchFamily="34" charset="0"/>
                <a:ea typeface="IBM Plex Sans" pitchFamily="34" charset="-122"/>
                <a:cs typeface="IBM Plex Sans" pitchFamily="34" charset="-120"/>
              </a:rPr>
              <a:t>100%</a:t>
            </a:r>
            <a:endParaRPr lang="en-US" sz="1016" dirty="0"/>
          </a:p>
        </p:txBody>
      </p:sp>
      <p:sp>
        <p:nvSpPr>
          <p:cNvPr id="13" name="Shape 11"/>
          <p:cNvSpPr/>
          <p:nvPr/>
        </p:nvSpPr>
        <p:spPr>
          <a:xfrm>
            <a:off x="4876800" y="2601416"/>
            <a:ext cx="6502400" cy="1447502"/>
          </a:xfrm>
          <a:prstGeom prst="roundRect">
            <a:avLst>
              <a:gd name="adj" fmla="val 7019"/>
            </a:avLst>
          </a:prstGeom>
          <a:solidFill>
            <a:srgbClr val="13294B"/>
          </a:solidFill>
          <a:ln/>
        </p:spPr>
        <p:txBody>
          <a:bodyPr/>
          <a:lstStyle/>
          <a:p>
            <a:endParaRPr lang="vi-VN"/>
          </a:p>
        </p:txBody>
      </p:sp>
      <p:sp>
        <p:nvSpPr>
          <p:cNvPr id="14" name="Text 12"/>
          <p:cNvSpPr/>
          <p:nvPr/>
        </p:nvSpPr>
        <p:spPr>
          <a:xfrm>
            <a:off x="5080000" y="2804616"/>
            <a:ext cx="627888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7FB3AE"/>
                </a:solidFill>
                <a:latin typeface="IBM Plex Sans" pitchFamily="34" charset="0"/>
                <a:ea typeface="IBM Plex Sans" pitchFamily="34" charset="-122"/>
                <a:cs typeface="IBM Plex Sans" pitchFamily="34" charset="-120"/>
              </a:rPr>
              <a:t>Prompt v2, run a second time</a:t>
            </a:r>
            <a:endParaRPr lang="en-US" sz="1250" dirty="0"/>
          </a:p>
        </p:txBody>
      </p:sp>
      <p:sp>
        <p:nvSpPr>
          <p:cNvPr id="15" name="Text 13"/>
          <p:cNvSpPr/>
          <p:nvPr/>
        </p:nvSpPr>
        <p:spPr>
          <a:xfrm>
            <a:off x="5080000" y="3090366"/>
            <a:ext cx="6278880" cy="48766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FBFBF8"/>
                </a:solidFill>
                <a:latin typeface="IBM Plex Sans" pitchFamily="34" charset="0"/>
                <a:ea typeface="IBM Plex Sans" pitchFamily="34" charset="-122"/>
                <a:cs typeface="IBM Plex Sans" pitchFamily="34" charset="-120"/>
              </a:rPr>
              <a:t>24/25</a:t>
            </a:r>
            <a:endParaRPr lang="en-US" sz="2600" dirty="0"/>
          </a:p>
        </p:txBody>
      </p:sp>
      <p:sp>
        <p:nvSpPr>
          <p:cNvPr id="16" name="Text 14"/>
          <p:cNvSpPr/>
          <p:nvPr/>
        </p:nvSpPr>
        <p:spPr>
          <a:xfrm>
            <a:off x="5080000" y="3616127"/>
            <a:ext cx="6278880"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C8D4E4"/>
                </a:solidFill>
                <a:latin typeface="IBM Plex Sans" pitchFamily="34" charset="0"/>
                <a:ea typeface="IBM Plex Sans" pitchFamily="34" charset="-122"/>
                <a:cs typeface="IBM Plex Sans" pitchFamily="34" charset="-120"/>
              </a:rPr>
              <a:t>96% — same gate, second run</a:t>
            </a:r>
            <a:endParaRPr lang="en-US" sz="1250" dirty="0"/>
          </a:p>
        </p:txBody>
      </p:sp>
      <p:sp>
        <p:nvSpPr>
          <p:cNvPr id="17" name="Shape 15"/>
          <p:cNvSpPr/>
          <p:nvPr/>
        </p:nvSpPr>
        <p:spPr>
          <a:xfrm>
            <a:off x="2660603" y="4328122"/>
            <a:ext cx="3399334" cy="1488281"/>
          </a:xfrm>
          <a:prstGeom prst="roundRect">
            <a:avLst>
              <a:gd name="adj" fmla="val 6827"/>
            </a:avLst>
          </a:prstGeom>
          <a:solidFill>
            <a:srgbClr val="0F766E"/>
          </a:solidFill>
          <a:ln/>
        </p:spPr>
        <p:txBody>
          <a:bodyPr/>
          <a:lstStyle/>
          <a:p>
            <a:endParaRPr lang="vi-VN"/>
          </a:p>
        </p:txBody>
      </p:sp>
      <p:sp>
        <p:nvSpPr>
          <p:cNvPr id="18" name="Text 16"/>
          <p:cNvSpPr/>
          <p:nvPr/>
        </p:nvSpPr>
        <p:spPr>
          <a:xfrm>
            <a:off x="2889203" y="4556722"/>
            <a:ext cx="317073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IBM Plex Sans" pitchFamily="34" charset="0"/>
                <a:ea typeface="IBM Plex Sans" pitchFamily="34" charset="-122"/>
                <a:cs typeface="IBM Plex Sans" pitchFamily="34" charset="-120"/>
              </a:rPr>
              <a:t>What the six failures actually were</a:t>
            </a:r>
            <a:endParaRPr lang="en-US" sz="1600" dirty="0"/>
          </a:p>
        </p:txBody>
      </p:sp>
      <p:sp>
        <p:nvSpPr>
          <p:cNvPr id="19" name="Text 17"/>
          <p:cNvSpPr/>
          <p:nvPr/>
        </p:nvSpPr>
        <p:spPr>
          <a:xfrm>
            <a:off x="2889203" y="4876702"/>
            <a:ext cx="3030398" cy="715963"/>
          </a:xfrm>
          <a:prstGeom prst="rect">
            <a:avLst/>
          </a:prstGeom>
          <a:noFill/>
          <a:ln/>
        </p:spPr>
        <p:txBody>
          <a:bodyPr wrap="square" lIns="0" tIns="0" rIns="0" bIns="0" rtlCol="0" anchor="t">
            <a:normAutofit fontScale="85000" lnSpcReduction="10000"/>
          </a:bodyPr>
          <a:lstStyle/>
          <a:p>
            <a:pPr marL="0" indent="0" algn="l">
              <a:lnSpc>
                <a:spcPts val="1813"/>
              </a:lnSpc>
              <a:buNone/>
            </a:pPr>
            <a:r>
              <a:rPr lang="en-US" sz="1250" dirty="0">
                <a:solidFill>
                  <a:srgbClr val="D8EFEC"/>
                </a:solidFill>
                <a:latin typeface="IBM Plex Sans" pitchFamily="34" charset="0"/>
                <a:ea typeface="IBM Plex Sans" pitchFamily="34" charset="-122"/>
                <a:cs typeface="IBM Plex Sans" pitchFamily="34" charset="-120"/>
              </a:rPr>
              <a:t>The model cited source_ids = [“2”, “3”] — the bracket numbers from the context, not section ids. Those answers were otherwise correct.</a:t>
            </a:r>
            <a:endParaRPr lang="en-US" sz="1250" dirty="0"/>
          </a:p>
        </p:txBody>
      </p:sp>
      <p:sp>
        <p:nvSpPr>
          <p:cNvPr id="20" name="Shape 18"/>
          <p:cNvSpPr/>
          <p:nvPr/>
        </p:nvSpPr>
        <p:spPr>
          <a:xfrm>
            <a:off x="6240912" y="4331297"/>
            <a:ext cx="3405783" cy="1481931"/>
          </a:xfrm>
          <a:prstGeom prst="roundRect">
            <a:avLst>
              <a:gd name="adj" fmla="val 6642"/>
            </a:avLst>
          </a:prstGeom>
          <a:solidFill>
            <a:srgbClr val="FFFFFF"/>
          </a:solidFill>
          <a:ln w="6350">
            <a:solidFill>
              <a:srgbClr val="DFE4EC"/>
            </a:solidFill>
            <a:prstDash val="solid"/>
          </a:ln>
        </p:spPr>
        <p:txBody>
          <a:bodyPr/>
          <a:lstStyle/>
          <a:p>
            <a:endParaRPr lang="vi-VN"/>
          </a:p>
        </p:txBody>
      </p:sp>
      <p:sp>
        <p:nvSpPr>
          <p:cNvPr id="21" name="Text 19"/>
          <p:cNvSpPr/>
          <p:nvPr/>
        </p:nvSpPr>
        <p:spPr>
          <a:xfrm>
            <a:off x="6472687" y="4563072"/>
            <a:ext cx="3030500" cy="222548"/>
          </a:xfrm>
          <a:prstGeom prst="rect">
            <a:avLst/>
          </a:prstGeom>
          <a:noFill/>
          <a:ln/>
        </p:spPr>
        <p:txBody>
          <a:bodyPr wrap="square" lIns="0" tIns="0" rIns="0" bIns="0" rtlCol="0" anchor="t">
            <a:normAutofit/>
          </a:bodyPr>
          <a:lstStyle/>
          <a:p>
            <a:pPr marL="0" indent="0" algn="l">
              <a:lnSpc>
                <a:spcPts val="1572"/>
              </a:lnSpc>
              <a:buNone/>
            </a:pPr>
            <a:r>
              <a:rPr lang="en-US" sz="1310" b="1" dirty="0">
                <a:solidFill>
                  <a:srgbClr val="13294B"/>
                </a:solidFill>
                <a:latin typeface="IBM Plex Sans" pitchFamily="34" charset="0"/>
                <a:ea typeface="IBM Plex Sans" pitchFamily="34" charset="-122"/>
                <a:cs typeface="IBM Plex Sans" pitchFamily="34" charset="-120"/>
              </a:rPr>
              <a:t>Why we show both v2 runs</a:t>
            </a:r>
            <a:endParaRPr lang="en-US" sz="1310" dirty="0"/>
          </a:p>
        </p:txBody>
      </p:sp>
      <p:sp>
        <p:nvSpPr>
          <p:cNvPr id="22" name="Text 20"/>
          <p:cNvSpPr/>
          <p:nvPr/>
        </p:nvSpPr>
        <p:spPr>
          <a:xfrm>
            <a:off x="6472687" y="4836419"/>
            <a:ext cx="3030500" cy="770434"/>
          </a:xfrm>
          <a:prstGeom prst="rect">
            <a:avLst/>
          </a:prstGeom>
          <a:noFill/>
          <a:ln/>
        </p:spPr>
        <p:txBody>
          <a:bodyPr wrap="square" lIns="0" tIns="0" rIns="0" bIns="0" rtlCol="0" anchor="t">
            <a:normAutofit/>
          </a:bodyPr>
          <a:lstStyle/>
          <a:p>
            <a:pPr marL="0" indent="0" algn="l">
              <a:lnSpc>
                <a:spcPts val="1614"/>
              </a:lnSpc>
              <a:buNone/>
            </a:pPr>
            <a:r>
              <a:rPr lang="en-US" sz="1113" dirty="0">
                <a:solidFill>
                  <a:srgbClr val="4A5568"/>
                </a:solidFill>
                <a:latin typeface="IBM Plex Sans" pitchFamily="34" charset="0"/>
                <a:ea typeface="IBM Plex Sans" pitchFamily="34" charset="-122"/>
                <a:cs typeface="IBM Plex Sans" pitchFamily="34" charset="-120"/>
              </a:rPr>
              <a:t>Temperature is 0 and retrieval is deterministic, so the variation is in generation. The fix greatly reduces wrong citations; it does not eliminate them.</a:t>
            </a:r>
            <a:endParaRPr lang="en-US" sz="1113" dirty="0"/>
          </a:p>
        </p:txBody>
      </p:sp>
      <p:sp>
        <p:nvSpPr>
          <p:cNvPr id="26" name="Text 24"/>
          <p:cNvSpPr/>
          <p:nvPr/>
        </p:nvSpPr>
        <p:spPr>
          <a:xfrm>
            <a:off x="812800" y="6238280"/>
            <a:ext cx="78437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Every figure is read from rag/eval/results/ when the report is built — none is typed in by hand</a:t>
            </a:r>
            <a:endParaRPr lang="en-US" sz="1200" dirty="0"/>
          </a:p>
        </p:txBody>
      </p:sp>
    </p:spTree>
  </p:cSld>
  <p:clrMapOvr>
    <a:masterClrMapping/>
  </p:clrMapOvr>
</p:sld>
</file>

<file path=ppt/theme/theme1.xml><?xml version="1.0" encoding="utf-8"?>
<a:theme xmlns:a="http://schemas.openxmlformats.org/drawingml/2006/main" name="Smart Healthcare — Bảo vệ cuối kỳ">
  <a:themeElements>
    <a:clrScheme name="Smart Healthcare — Bảo vệ cuối kỳ">
      <a:dk1>
        <a:srgbClr val="13294B"/>
      </a:dk1>
      <a:lt1>
        <a:srgbClr val="FBFBF8"/>
      </a:lt1>
      <a:dk2>
        <a:srgbClr val="4D5E76"/>
      </a:dk2>
      <a:lt2>
        <a:srgbClr val="E4E6E7"/>
      </a:lt2>
      <a:accent1>
        <a:srgbClr val="0F766E"/>
      </a:accent1>
      <a:accent2>
        <a:srgbClr val="7FB3AE"/>
      </a:accent2>
      <a:accent3>
        <a:srgbClr val="1C3A66"/>
      </a:accent3>
      <a:accent4>
        <a:srgbClr val="B45309"/>
      </a:accent4>
      <a:accent5>
        <a:srgbClr val="6E89B0"/>
      </a:accent5>
      <a:accent6>
        <a:srgbClr val="4A5568"/>
      </a:accent6>
      <a:hlink>
        <a:srgbClr val="0563C1"/>
      </a:hlink>
      <a:folHlink>
        <a:srgbClr val="954F72"/>
      </a:folHlink>
    </a:clrScheme>
    <a:fontScheme name="Smart Healthcare — Bảo vệ cuối kỳ">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1090</Words>
  <Application>Microsoft Office PowerPoint</Application>
  <PresentationFormat>Widescreen</PresentationFormat>
  <Paragraphs>103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IBM Plex Sans</vt:lpstr>
      <vt:lpstr>Source Serif 4</vt:lpstr>
      <vt:lpstr>Smart Healthcare — Bảo vệ cuối kỳ</vt:lpstr>
      <vt:lpstr>Smart Healthcare</vt:lpstr>
      <vt:lpstr>One small clinic, three user groups, three distinct needs</vt:lpstr>
      <vt:lpstr>PowerPoint Presentation</vt:lpstr>
      <vt:lpstr>Where does “How many puffs during an asthma attack?” go?</vt:lpstr>
      <vt:lpstr>Ollama for evaluation, Gemini for use — guided by one measurement</vt:lpstr>
      <vt:lpstr>What is not done yet — stated upfront</vt:lpstr>
      <vt:lpstr>Four actions we will demonstrate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Healthcare — Bảo vệ cuối kỳ</dc:title>
  <dc:subject/>
  <dc:creator/>
  <cp:lastModifiedBy>nguyenchidung17112005@gmail.com</cp:lastModifiedBy>
  <cp:revision>2</cp:revision>
  <dcterms:created xsi:type="dcterms:W3CDTF">2026-10-26T04:45:13Z</dcterms:created>
  <dcterms:modified xsi:type="dcterms:W3CDTF">2026-10-27T05:52:39Z</dcterms:modified>
</cp:coreProperties>
</file>